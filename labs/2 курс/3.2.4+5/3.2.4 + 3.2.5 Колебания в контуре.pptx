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расскажу о двух связанных лабораторных: 3.2.4 про свободные колебания в RLC-контуре и 3.2.5 про вынужденные колебания в том же контуре. На установке это одна работа, поэтому рассказываю их вместе.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исследовать колебания в контуре и определить его параметры. Задачи четыре: период от ёмкости и собственная ёмкость контура; декремент и критическое сопротивление; резонансные кривые и установление колебаний; и в итоге добротность, найденная пятью независимыми способами.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из методички: генератор через маленькую ёмкость C1 подаёт сигнал на контур из магазина индуктивности, магазина ёмкостей и магазина сопротивлений. Напряжение на конденсаторе идёт на первый канал осциллографа, напряжение на резисторе, пропорциональное току, — на второй. Генератор работает в трёх режимах: короткие импульсы для свободных колебаний, синус для резонансных кривых, цуги для установления. Из уравнения контура получаются коэффициент затухания и собственная частота. Всё, что дальше измеряем, сводится к декременту: из него добротность, а из зависимости декремента от R — критическое сопротивление. Вывод формул и формулы погрешностей вынесены в приложение.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нулевой ёмкости на магазине контур всё равно колеблется с периодом 64,8 мкс. Значит, у контура есть паразитная ёмкость — соединительная коробка, провода, вход осциллографа. По периоду это 1,06 нФ. На графике по оси X теоретический период с учётом этой ёмкости, по Y — измеренный. Нижняя панель — разность: все точки лежат на нуле в пределах погрешности 2 мкс, то есть формула Томсона подтверждается. Кроме того, если построить T² от C, наклон даёт индуктивность 101 мГн — с LCR-метром расхождение 1,2 %, в пределах погрешности; а пересечение даёт ту же C0. Эту ёмкость прибавляем во всех следующих расчётах.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Ёмкость выставили под собственную частоту 6,5 кГц, на магазине 5,76 нФ. Первый всплеск на осциллограмме — это сам импульс генератора, во время него колебания вынужденные, поэтому отсчёт ведём от первого максимума после импульса. Декремент — по двум максимумам через n периодов, добротность — π/Θ. С ростом R декремент растёт, добротность падает. Измеренный декремент в среднем выше теоретического: в контуре есть дополнительные потери.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 связи декремента с сопротивлением следует линейная зависимость 1/Θ² от 1/R², наклон даёт критическое сопротивление. Точки — те же декременты с прошлого слайда. Погрешность 1/Θ² пропорциональна ΔΘ/Θ³, поэтому при малых декрементах кресты большие. Одна точка, 0,34 кОм, выбивается: на фото второй курсор стоит между пиками, и число периодов определено неоднозначно. Если её выкинуть, получается 6,8 против 6,9 кОм, то есть на результат она не влияет. По графику 6,9 ± 0,6 кОм, расчёт с учётом собственной ёмкости 7,65. Подбор даёт меньше, потому что около Rкр последний выброс сливается с линией.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способ посмотреть на те же колебания — фазовая плоскость: по X напряжение на конденсаторе, по Y ток. Затухающие колебания дают скручивающуюся спираль. Курсоры ставили на два соседних витка, между ними ровно один период. Декремент при 0,41 кОм совпал с осциллограммой. С ростом R добротность падает, при малых R близка к теории.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вынужденные колебания. Резонансные кривые сняты при двух сопротивлениях, 0,41 и 0,20 кОм. Точки аппроксимированы резонансной кривой с тремя параметрами. Видно, что вдвое большее сопротивление даёт вдвое более широкую кривую: добротность 7,1 против 14,4. Резонанс оказался на 6,1 кГц, а не на рассчитанных 6,5 — это как раз собственная ёмкость: с её учётом расчёт даёт 6,09 кГц, совпадение 0,3 %.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контур подаются цуги — отрезки синусоиды по 15 периодов. На резонансе амплитуда нарастает к установившемуся значению по закону 1 − e^(−γt), поэтому ln(U0 − Uk) падает линейно с номером периода, наклон даёт декремент: 0,31 и 0,21. При отстройке от резонанса в начале цуга видны биения: складываются вынужденные колебания на частоте генератора и затухающие собственные на частоте ν0, огибающая пульсирует с разностной частотой около 0,8 кГц, пока собственные колебания не затухнут. После этого остаются чистые вынужденные колебания.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Сводная таблица добротностей. Для R2 все экспериментальные способы дают 14–15 и согласуются в пределах погрешности, среднее взвешенное 14,5 ± 0,3. Для R1 декремент, спираль и АЧХ дают около 7,1; нарастание выбивается, скорее всего установившаяся амплитуда записана чуть ниже реальной, поэтому в среднее его не включаем. Самый точный способ — АЧХ, там используются все точки кривой. Теория во всех случаях выше на 15–20 %: неучтённые потери в контуре.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Итак. Первое — у контура есть собственная ёмкость около нанофарады, и без неё ни период, ни резонансная частота не сходятся с теорией. Второе — критическое сопротивление по наклону графика 6,9 кОм. Третье — все экспериментальные методы дают согласованную добротность, и она обратно пропорциональна сопротивлению. Четвёртое — реальные потери в контуре на 15–20 % больше, чем дают сопротивление магазина и катушки. Спасибо,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40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323280"/>
            <a:ext cx="10566400" cy="47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40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323280"/>
            <a:ext cx="10566400" cy="47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53799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00" kern="0" dirty="0">
                <a:solidFill>
                  <a:srgbClr val="8FB8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ЛАБОРАТОРНЫЕ РАБОТЫ 3.2.4 + 3.2.5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076450"/>
            <a:ext cx="9810750" cy="2036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Свободные и вынужденные колебания в электрическом контуре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12800" y="4342011"/>
            <a:ext cx="1016000" cy="38100"/>
          </a:xfrm>
          <a:prstGeom prst="rect">
            <a:avLst/>
          </a:prstGeom>
          <a:solidFill>
            <a:srgbClr val="D97A1E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" y="4634111"/>
            <a:ext cx="1088339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Зеличенко Данил Данилович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группа Б04-505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МФТИ · Лабораторный практикум по общей физике · Электричество и магнетизм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Цель и задачи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323280"/>
            <a:ext cx="10566400" cy="1313061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4" name="Shape 2"/>
          <p:cNvSpPr/>
          <p:nvPr/>
        </p:nvSpPr>
        <p:spPr>
          <a:xfrm>
            <a:off x="838200" y="1323280"/>
            <a:ext cx="0" cy="1313061"/>
          </a:xfrm>
          <a:prstGeom prst="line">
            <a:avLst/>
          </a:prstGeom>
          <a:noFill/>
          <a:ln w="508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7600" y="1526480"/>
            <a:ext cx="103078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2B6C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ЦЕЛЬ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1816001"/>
            <a:ext cx="10307828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Исследовать свободные и вынужденные колебания в RLC-контуре и определить его параметры: собственную ёмкость, критическое сопротивление и добротность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5975" y="2944316"/>
            <a:ext cx="5200650" cy="8763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350" y="3125291"/>
            <a:ext cx="1455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97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69504" y="3125291"/>
            <a:ext cx="467696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Зависимость периода свободных колебаний от ёмкости, собственная ёмкость контура </a:t>
            </a:r>
            <a:r>
              <a:rPr lang="en-US" sz="1500" i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r>
              <a:rPr lang="en-US" sz="15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5375" y="2944316"/>
            <a:ext cx="5200650" cy="8763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1750" y="3125291"/>
            <a:ext cx="18742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97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70774" y="3125291"/>
            <a:ext cx="463384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Декремент затухания Θ(</a:t>
            </a:r>
            <a:r>
              <a:rPr lang="en-US" sz="1500" i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5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 и критическое сопротивление </a:t>
            </a:r>
            <a:r>
              <a:rPr lang="en-US" sz="1500" i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5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5975" y="3979366"/>
            <a:ext cx="5200650" cy="8763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2350" y="4160341"/>
            <a:ext cx="16787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97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91828" y="4160341"/>
            <a:ext cx="465397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Резонансные кривые и процесс установления вынужденных колебаний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5375" y="3979366"/>
            <a:ext cx="5200650" cy="8763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1750" y="4160341"/>
            <a:ext cx="18514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97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68492" y="4160341"/>
            <a:ext cx="463619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Добротность контура пятью способами и сравнение с теорией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Зеличенко Д. Д. · Б04-505 · 3.2.4 + 3.2.5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Установка и основные формулы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221680"/>
            <a:ext cx="6096000" cy="225425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</p:spPr>
      </p:sp>
      <p:pic>
        <p:nvPicPr>
          <p:cNvPr id="4" name="Image 0" descr="Схема установки из методички: генератор через C1 подключён к контуру L, C, R; напряжение на C идёт на CH1 осциллографа, напряжение на R — на CH2">    </p:cNvPr>
          <p:cNvPicPr>
            <a:picLocks noChangeAspect="1"/>
          </p:cNvPicPr>
          <p:nvPr/>
        </p:nvPicPr>
        <p:blipFill>
          <a:blip r:embed="rId1"/>
          <a:srcRect l="-27" r="-27" t="0" b="0"/>
          <a:stretch/>
        </p:blipFill>
        <p:spPr>
          <a:xfrm>
            <a:off x="812800" y="1221680"/>
            <a:ext cx="6096000" cy="2254250"/>
          </a:xfrm>
          <a:prstGeom prst="roundRect">
            <a:avLst>
              <a:gd name="adj" fmla="val 2254"/>
            </a:avLst>
          </a:prstGeom>
        </p:spPr>
      </p:pic>
      <p:sp>
        <p:nvSpPr>
          <p:cNvPr id="5" name="Text 2"/>
          <p:cNvSpPr/>
          <p:nvPr/>
        </p:nvSpPr>
        <p:spPr>
          <a:xfrm>
            <a:off x="812800" y="3526730"/>
            <a:ext cx="6278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Схема установки (из методического описания)</a:t>
            </a:r>
            <a:endParaRPr lang="en-US" sz="1200" dirty="0"/>
          </a:p>
        </p:txBody>
      </p:sp>
      <p:pic>
        <p:nvPicPr>
          <p:cNvPr id="6" name="Image 1" descr="Фото установки: генератор, осциллограф, магазины индуктивности, ёмкости и сопротивления">    </p:cNvPr>
          <p:cNvPicPr>
            <a:picLocks noChangeAspect="1"/>
          </p:cNvPicPr>
          <p:nvPr/>
        </p:nvPicPr>
        <p:blipFill>
          <a:blip r:embed="rId2"/>
          <a:srcRect l="0" r="0" t="3830" b="3830"/>
          <a:stretch/>
        </p:blipFill>
        <p:spPr>
          <a:xfrm>
            <a:off x="7188200" y="1221680"/>
            <a:ext cx="4191000" cy="2254250"/>
          </a:xfrm>
          <a:prstGeom prst="roundRect">
            <a:avLst>
              <a:gd name="adj" fmla="val 2254"/>
            </a:avLst>
          </a:prstGeom>
        </p:spPr>
      </p:pic>
      <p:sp>
        <p:nvSpPr>
          <p:cNvPr id="7" name="Text 3"/>
          <p:cNvSpPr/>
          <p:nvPr/>
        </p:nvSpPr>
        <p:spPr>
          <a:xfrm>
            <a:off x="7188200" y="3526730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100 мГн (магазин),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магазины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12800" y="394325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Формулы, по которым ведётся обработка </a:t>
            </a:r>
            <a:r>
              <a:rPr lang="en-US" sz="1400" b="1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(вывод и погрешности — Приложение)</a:t>
            </a:r>
            <a:endParaRPr lang="en-US" sz="1400" dirty="0"/>
          </a:p>
        </p:txBody>
      </p:sp>
      <p:pic>
        <p:nvPicPr>
          <p:cNvPr id="9" name="Image 2" descr="Уравнение свободных колебаний: U'' + 2γU' + ω0²U = 0, γ = RΣ/2L, ω0 = 1/√(LC)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4395291"/>
            <a:ext cx="4356100" cy="5905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2800" y="5049341"/>
            <a:ext cx="5310886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γ — коэффициент затухания, ω₀ — собственная частота,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Σ =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+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кат (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кат = 22,8 Ом)</a:t>
            </a:r>
            <a:endParaRPr lang="en-US" sz="1200" dirty="0"/>
          </a:p>
        </p:txBody>
      </p:sp>
      <p:pic>
        <p:nvPicPr>
          <p:cNvPr id="11" name="Image 3" descr="Θ = (1/n)·ln(Um/Um+n), Q = π/Θ = (1/RΣ)√(L/C), Rкр = 2√(L/C)">    </p:cNvPr>
          <p:cNvPicPr>
            <a:picLocks noChangeAspect="1"/>
          </p:cNvPicPr>
          <p:nvPr/>
        </p:nvPicPr>
        <p:blipFill>
          <a:blip r:embed="rId4"/>
          <a:srcRect l="0" r="0" t="-254" b="-254"/>
          <a:stretch/>
        </p:blipFill>
        <p:spPr>
          <a:xfrm>
            <a:off x="6223000" y="4395291"/>
            <a:ext cx="5041900" cy="6286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23000" y="5087441"/>
            <a:ext cx="5310886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Θ — логарифмический декремент по амплитудам через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периодов,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добротность,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 — критическое сопротивление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Зеличенко Д. Д. · Б04-505 · 3.2.4 + 3.2.5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Период свободных колебаний и собственная ёмкость</a:t>
            </a:r>
            <a:endParaRPr lang="en-US" sz="2800" dirty="0"/>
          </a:p>
        </p:txBody>
      </p:sp>
      <p:pic>
        <p:nvPicPr>
          <p:cNvPr id="3" name="Image 0" descr="Сверху: T эксп от T теор, точки на прямой T эксп = T теор с крестами погрешностей. Снизу: разность T эксп − T теор, все точки в пределах ±2 мкс от нуля">    </p:cNvPr>
          <p:cNvPicPr>
            <a:picLocks noChangeAspect="1"/>
          </p:cNvPicPr>
          <p:nvPr/>
        </p:nvPicPr>
        <p:blipFill>
          <a:blip r:embed="rId1"/>
          <a:srcRect l="-46" r="-46" t="0" b="0"/>
          <a:stretch/>
        </p:blipFill>
        <p:spPr>
          <a:xfrm>
            <a:off x="812800" y="1247080"/>
            <a:ext cx="5080000" cy="3987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8400" y="1247080"/>
            <a:ext cx="528472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 </a:t>
            </a:r>
            <a:r>
              <a:rPr lang="en-US" sz="14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0 на магазине контур всё равно колеблется: </a:t>
            </a:r>
            <a:r>
              <a:rPr lang="en-US" sz="14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₀ = 64,8 мкс. Это паразитная ёмкость соединительной коробки, проводов и входа осциллографа: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48400" y="2133302"/>
            <a:ext cx="5130800" cy="787400"/>
          </a:xfrm>
          <a:prstGeom prst="rect">
            <a:avLst/>
          </a:prstGeom>
          <a:solidFill>
            <a:srgbClr val="EEF3F9"/>
          </a:solidFill>
          <a:ln/>
        </p:spPr>
        <p:txBody>
          <a:bodyPr wrap="square" lIns="228600" tIns="127000" rIns="36068" bIns="10160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2B6C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C₀ = T₀²/4π²L = 1,06 нФ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273800" y="2133302"/>
            <a:ext cx="0" cy="787400"/>
          </a:xfrm>
          <a:prstGeom prst="line">
            <a:avLst/>
          </a:prstGeom>
          <a:noFill/>
          <a:ln w="50800">
            <a:solidFill>
              <a:srgbClr val="2B6CB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33363" y="3060402"/>
            <a:ext cx="5192141" cy="1465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037" indent="-1690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Все точки совпадают с </a:t>
            </a:r>
            <a:r>
              <a:rPr lang="en-US" sz="1350" i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</a:t>
            </a:r>
            <a:r>
              <a:rPr lang="en-US" sz="135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теор в пределах Δ</a:t>
            </a:r>
            <a:r>
              <a:rPr lang="en-US" sz="1350" i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</a:t>
            </a:r>
            <a:r>
              <a:rPr lang="en-US" sz="135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2 мкс (нижняя панель): формула Томсона с учётом </a:t>
            </a:r>
            <a:r>
              <a:rPr lang="en-US" sz="1350" i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r>
              <a:rPr lang="en-US" sz="135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₀ подтверждается</a:t>
            </a:r>
            <a:endParaRPr lang="en-US" sz="1350" dirty="0"/>
          </a:p>
          <a:p>
            <a:pPr algn="l" marL="169037" indent="-1690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Наклон </a:t>
            </a:r>
            <a:r>
              <a:rPr lang="en-US" sz="1350" i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</a:t>
            </a:r>
            <a:r>
              <a:rPr lang="en-US" sz="135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²(</a:t>
            </a:r>
            <a:r>
              <a:rPr lang="en-US" sz="1350" i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r>
              <a:rPr lang="en-US" sz="135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 даёт индуктивность </a:t>
            </a:r>
            <a:r>
              <a:rPr lang="en-US" sz="1350" i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</a:t>
            </a:r>
            <a:r>
              <a:rPr lang="en-US" sz="135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101,1 ± 0,9 мГн; LCR-метр: 99,95 мГн — согласуется (1,3σ)</a:t>
            </a:r>
            <a:endParaRPr lang="en-US" sz="1350" dirty="0"/>
          </a:p>
          <a:p>
            <a:pPr algn="l" marL="169037" indent="-1690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Пересечение той же прямой даёт </a:t>
            </a:r>
            <a:r>
              <a:rPr lang="en-US" sz="1350" i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r>
              <a:rPr lang="en-US" sz="135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₀ = 1,06 нФ — совпадает с оценкой по </a:t>
            </a:r>
            <a:r>
              <a:rPr lang="en-US" sz="1350" i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</a:t>
            </a:r>
            <a:r>
              <a:rPr lang="en-US" sz="135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₀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48400" y="4640163"/>
            <a:ext cx="5284724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Дальше: </a:t>
            </a:r>
            <a:r>
              <a:rPr lang="en-US" sz="1350" b="1" i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r>
              <a:rPr lang="en-US" sz="1350" b="1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Σ = 5,76 + 1,06 = 6,82 нФ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Зеличенко Д. Д. · Б04-505 · 3.2.4 + 3.2.5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Декремент затухания и добротность</a:t>
            </a:r>
            <a:endParaRPr lang="en-US" sz="2800" dirty="0"/>
          </a:p>
        </p:txBody>
      </p:sp>
      <p:pic>
        <p:nvPicPr>
          <p:cNvPr id="3" name="Image 0" descr="Осциллограмма затухающих колебаний после импульса при R = 0,41 кОм, курсоры на максимумах">    </p:cNvPr>
          <p:cNvPicPr>
            <a:picLocks noChangeAspect="1"/>
          </p:cNvPicPr>
          <p:nvPr/>
        </p:nvPicPr>
        <p:blipFill>
          <a:blip r:embed="rId1"/>
          <a:srcRect l="77" r="77" t="0" b="0"/>
          <a:stretch/>
        </p:blipFill>
        <p:spPr>
          <a:xfrm>
            <a:off x="812800" y="1272480"/>
            <a:ext cx="5461000" cy="1727200"/>
          </a:xfrm>
          <a:prstGeom prst="roundRect">
            <a:avLst>
              <a:gd name="adj" fmla="val 2941"/>
            </a:avLst>
          </a:prstGeom>
        </p:spPr>
      </p:pic>
      <p:sp>
        <p:nvSpPr>
          <p:cNvPr id="4" name="Text 1"/>
          <p:cNvSpPr/>
          <p:nvPr/>
        </p:nvSpPr>
        <p:spPr>
          <a:xfrm>
            <a:off x="812800" y="3126680"/>
            <a:ext cx="56248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0,41 кОм, 100 мкс/дел. Первый всплеск — сам импульс генератора, отсчёт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 ведём от первого максимума после него</a:t>
            </a:r>
            <a:endParaRPr lang="en-US" sz="1200" dirty="0"/>
          </a:p>
        </p:txBody>
      </p:sp>
      <p:pic>
        <p:nvPicPr>
          <p:cNvPr id="5" name="Image 1" descr="Θ = (1/n)·ln(Um/Um+n), Q = π/Θ">    </p:cNvPr>
          <p:cNvPicPr>
            <a:picLocks noChangeAspect="1"/>
          </p:cNvPicPr>
          <p:nvPr/>
        </p:nvPicPr>
        <p:blipFill>
          <a:blip r:embed="rId2"/>
          <a:srcRect l="0" r="0" t="-254" b="-254"/>
          <a:stretch/>
        </p:blipFill>
        <p:spPr>
          <a:xfrm>
            <a:off x="812800" y="3680321"/>
            <a:ext cx="5041900" cy="6286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4435971"/>
            <a:ext cx="562483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Θ растёт с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падает. Измеренный Θ в основном </a:t>
            </a:r>
            <a:r>
              <a:rPr lang="en-US" sz="1300" b="1" dirty="0">
                <a:solidFill>
                  <a:srgbClr val="D97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выше теории на 15–20 %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в контуре есть потери сверх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+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кат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91300" y="1285180"/>
          <a:ext cx="4787900" cy="2155627"/>
        </p:xfrm>
        <a:graphic>
          <a:graphicData uri="http://schemas.openxmlformats.org/drawingml/2006/table">
            <a:tbl>
              <a:tblPr/>
              <a:tblGrid>
                <a:gridCol w="813943"/>
                <a:gridCol w="430911"/>
                <a:gridCol w="1292733"/>
                <a:gridCol w="813943"/>
                <a:gridCol w="1436370"/>
              </a:tblGrid>
              <a:tr h="35927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R, кОм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Θ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Θ теор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 = π/Θ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0,41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0,43 ± 0,04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7,3 ± 0,6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0,28 ± 0,02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11,3 ± 0,9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0,30 ± 0,02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10,4 ± 0,8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0,22 ± 0,02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14,2 ± 1,5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0,22 ± 0,02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0,19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14,1 ± 1,4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Зеличенко Д. Д. · Б04-505 · 3.2.4 + 3.2.5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Критическое сопротивление</a:t>
            </a:r>
            <a:endParaRPr lang="en-US" sz="2800" dirty="0"/>
          </a:p>
        </p:txBody>
      </p:sp>
      <p:pic>
        <p:nvPicPr>
          <p:cNvPr id="3" name="Image 0" descr="График 1/Θ² от 1/RΣ²: четыре точки на прямой МНК, точка R = 0,34 кОм выше прямой">    </p:cNvPr>
          <p:cNvPicPr>
            <a:picLocks noChangeAspect="1"/>
          </p:cNvPicPr>
          <p:nvPr/>
        </p:nvPicPr>
        <p:blipFill>
          <a:blip r:embed="rId1"/>
          <a:srcRect l="-40" r="-40" t="0" b="0"/>
          <a:stretch/>
        </p:blipFill>
        <p:spPr>
          <a:xfrm>
            <a:off x="812800" y="1247080"/>
            <a:ext cx="5080000" cy="3746500"/>
          </a:xfrm>
          <a:prstGeom prst="rect">
            <a:avLst/>
          </a:prstGeom>
        </p:spPr>
      </p:pic>
      <p:pic>
        <p:nvPicPr>
          <p:cNvPr id="4" name="Image 1" descr="1/Θ² = (Rкр²/4π²)·(1/RΣ²) − 1/4π²">    </p:cNvPr>
          <p:cNvPicPr>
            <a:picLocks noChangeAspect="1"/>
          </p:cNvPicPr>
          <p:nvPr/>
        </p:nvPicPr>
        <p:blipFill>
          <a:blip r:embed="rId2"/>
          <a:srcRect l="-137" r="-137" t="0" b="0"/>
          <a:stretch/>
        </p:blipFill>
        <p:spPr>
          <a:xfrm>
            <a:off x="6223000" y="1247080"/>
            <a:ext cx="1905000" cy="66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23000" y="2047180"/>
            <a:ext cx="5310886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Каждая точка — Θ из таблицы на прошлом слайде, пересчитанный в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1/Θ²,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1/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Σ². Наклон прямой (взвешенный МНК) =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кр²/4π². Ошибка Δ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2ΔΘ/Θ³ резко растёт при малых Θ — отсюда большие кресты (Приложение)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223000" y="3009602"/>
            <a:ext cx="5310886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D97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 = 0,34 кОм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второй курсор стоит между 3-м и 4-м пиком,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определено неоднозначно. Без этой точки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 = 6,8 ± 0,6 кОм — результат устойчив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5700" y="3779044"/>
          <a:ext cx="5143500" cy="1662906"/>
        </p:xfrm>
        <a:graphic>
          <a:graphicData uri="http://schemas.openxmlformats.org/drawingml/2006/table">
            <a:tbl>
              <a:tblPr/>
              <a:tblGrid>
                <a:gridCol w="3497580"/>
                <a:gridCol w="1645920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Способ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Rкр, кОм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Расчёт 2√(L/C) без C₀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8,16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То же с учётом C₀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7,65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 наклону графика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6,9 ± 0,6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Подбор на экране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Зеличенко Д. Д. · Б04-505 · 3.2.4 + 3.2.5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Свободные колебания на фазовой плоскости</a:t>
            </a:r>
            <a:endParaRPr lang="en-US" sz="2800" dirty="0"/>
          </a:p>
        </p:txBody>
      </p:sp>
      <p:pic>
        <p:nvPicPr>
          <p:cNvPr id="3" name="Image 0" descr="Спираль на экране осциллографа в режиме X–Y при R = 0,26 кОм, курсоры a и b на соседних витках">    </p:cNvPr>
          <p:cNvPicPr>
            <a:picLocks noChangeAspect="1"/>
          </p:cNvPicPr>
          <p:nvPr/>
        </p:nvPicPr>
        <p:blipFill>
          <a:blip r:embed="rId1"/>
          <a:srcRect l="1351" r="1351" t="0" b="0"/>
          <a:stretch/>
        </p:blipFill>
        <p:spPr>
          <a:xfrm>
            <a:off x="812800" y="1272480"/>
            <a:ext cx="3810000" cy="3810000"/>
          </a:xfrm>
          <a:prstGeom prst="roundRect">
            <a:avLst>
              <a:gd name="adj" fmla="val 1333"/>
            </a:avLst>
          </a:prstGeom>
        </p:spPr>
      </p:pic>
      <p:sp>
        <p:nvSpPr>
          <p:cNvPr id="4" name="Text 1"/>
          <p:cNvSpPr/>
          <p:nvPr/>
        </p:nvSpPr>
        <p:spPr>
          <a:xfrm>
            <a:off x="812800" y="5184080"/>
            <a:ext cx="48576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Режим X–Y, </a:t>
            </a:r>
            <a:r>
              <a:rPr lang="en-US" sz="12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0,26 кОм; курсоры a, b — соседние витки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216426" y="1272480"/>
            <a:ext cx="634765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 ∝ </a:t>
            </a:r>
            <a:r>
              <a:rPr lang="en-US" sz="15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</a:t>
            </a: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на </a:t>
            </a:r>
            <a:r>
              <a:rPr lang="en-US" sz="15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Y ∝ ток. Соседние пересечения с осью X разделены одним периодом: Θ = ln(</a:t>
            </a:r>
            <a:r>
              <a:rPr lang="en-US" sz="15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 / </a:t>
            </a:r>
            <a:r>
              <a:rPr lang="en-US" sz="15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k+1)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29126" y="1996380"/>
          <a:ext cx="6150074" cy="2315766"/>
        </p:xfrm>
        <a:graphic>
          <a:graphicData uri="http://schemas.openxmlformats.org/drawingml/2006/table">
            <a:tbl>
              <a:tblPr/>
              <a:tblGrid>
                <a:gridCol w="1537519"/>
                <a:gridCol w="1660520"/>
                <a:gridCol w="1660520"/>
                <a:gridCol w="1291516"/>
              </a:tblGrid>
              <a:tr h="3859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R, кОм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Θ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 = π/Θ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 теор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0,41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0,44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7,2 ± 0,6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8,8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9,0 ± 0,8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10,0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8,6 ± 0,7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11,9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13,5 ± 1,6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13,5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15,4 ± 1,9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17,2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216426" y="4489946"/>
            <a:ext cx="6347657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 </a:t>
            </a:r>
            <a:r>
              <a:rPr lang="en-US" sz="14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0,41 кОм спираль и осциллограмма дают один декремент: 0,44 и 0,43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Зеличенко Д. Д. · Б04-505 · 3.2.4 + 3.2.5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Резонансные кривые</a:t>
            </a:r>
            <a:endParaRPr lang="en-US" sz="2800" dirty="0"/>
          </a:p>
        </p:txBody>
      </p:sp>
      <p:pic>
        <p:nvPicPr>
          <p:cNvPr id="3" name="Image 0" descr="Резонансные кривые U/U0 от ν/ν0 для R1 = 0,41 кОм (широкая, Q = 7,1) и R2 = 0,20 кОм (узкая, Q = 14,4) с аппроксимацией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72480"/>
            <a:ext cx="6350000" cy="393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8400" y="1272480"/>
            <a:ext cx="397662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Точки — измерения, линии — аппроксимация формулой ниже (параметры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₀, ν₀,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); ν₀ — частота максимума, т.е. резонанс</a:t>
            </a:r>
            <a:endParaRPr lang="en-US" sz="1300" dirty="0"/>
          </a:p>
        </p:txBody>
      </p:sp>
      <p:pic>
        <p:nvPicPr>
          <p:cNvPr id="5" name="Image 1" descr="U(ν) = U0 / √(1 + Q²(ν/ν0 − ν0/ν)²)">    </p:cNvPr>
          <p:cNvPicPr>
            <a:picLocks noChangeAspect="1"/>
          </p:cNvPicPr>
          <p:nvPr/>
        </p:nvPicPr>
        <p:blipFill>
          <a:blip r:embed="rId2"/>
          <a:srcRect l="0" r="0" t="-56" b="-56"/>
          <a:stretch/>
        </p:blipFill>
        <p:spPr>
          <a:xfrm>
            <a:off x="7518400" y="2143522"/>
            <a:ext cx="2540000" cy="5842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31100" y="2918222"/>
          <a:ext cx="3848100" cy="1929805"/>
        </p:xfrm>
        <a:graphic>
          <a:graphicData uri="http://schemas.openxmlformats.org/drawingml/2006/table">
            <a:tbl>
              <a:tblPr/>
              <a:tblGrid>
                <a:gridCol w="2385822"/>
                <a:gridCol w="1462278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Резонансная частота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ν₀, кГц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аппроксимация, R₁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6,115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аппроксимация, R₂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6,107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расчёт с C₀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6,09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расчёт без C₀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7518400" y="5025827"/>
            <a:ext cx="397662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Ширина на уровне 1/√2: </a:t>
            </a:r>
            <a:r>
              <a:rPr lang="en-US" sz="14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ν₀/2Δν = 6,8 (</a:t>
            </a:r>
            <a:r>
              <a:rPr lang="en-US" sz="14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₁) и 13,8 (</a:t>
            </a:r>
            <a:r>
              <a:rPr lang="en-US" sz="14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₂)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Зеличенко Д. Д. · Б04-505 · 3.2.4 + 3.2.5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Установление вынужденных колебаний</a:t>
            </a:r>
            <a:endParaRPr lang="en-US" sz="2800" dirty="0"/>
          </a:p>
        </p:txBody>
      </p:sp>
      <p:pic>
        <p:nvPicPr>
          <p:cNvPr id="3" name="Image 0" descr="Цуг на резонансной частоте 6,1 кГц: огибающая плавно нарастает и затухает; снизу синий сигнал генератора">    </p:cNvPr>
          <p:cNvPicPr>
            <a:picLocks noChangeAspect="1"/>
          </p:cNvPicPr>
          <p:nvPr/>
        </p:nvPicPr>
        <p:blipFill>
          <a:blip r:embed="rId1"/>
          <a:srcRect l="0" r="0" t="-57" b="-57"/>
          <a:stretch/>
        </p:blipFill>
        <p:spPr>
          <a:xfrm>
            <a:off x="812800" y="1247080"/>
            <a:ext cx="3302000" cy="2247900"/>
          </a:xfrm>
          <a:prstGeom prst="roundRect">
            <a:avLst>
              <a:gd name="adj" fmla="val 226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812800" y="3558480"/>
            <a:ext cx="340106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Резонанс, 6,1 кГц: огибающая нарастает и спадает плавно (синий — сигнал генератора)</a:t>
            </a:r>
            <a:endParaRPr lang="en-US" sz="1200" dirty="0"/>
          </a:p>
        </p:txBody>
      </p:sp>
      <p:pic>
        <p:nvPicPr>
          <p:cNvPr id="5" name="Image 1" descr="Цуг при отстройке 6,89 кГц: в начале огибающая резко выбрасывается вверх и проваливается — биения">    </p:cNvPr>
          <p:cNvPicPr>
            <a:picLocks noChangeAspect="1"/>
          </p:cNvPicPr>
          <p:nvPr/>
        </p:nvPicPr>
        <p:blipFill>
          <a:blip r:embed="rId2"/>
          <a:srcRect l="0" r="0" t="-23" b="-23"/>
          <a:stretch/>
        </p:blipFill>
        <p:spPr>
          <a:xfrm>
            <a:off x="4318000" y="1247080"/>
            <a:ext cx="3302000" cy="2552700"/>
          </a:xfrm>
          <a:prstGeom prst="roundRect">
            <a:avLst>
              <a:gd name="adj" fmla="val 1990"/>
            </a:avLst>
          </a:prstGeom>
        </p:spPr>
      </p:pic>
      <p:sp>
        <p:nvSpPr>
          <p:cNvPr id="6" name="Text 2"/>
          <p:cNvSpPr/>
          <p:nvPr/>
        </p:nvSpPr>
        <p:spPr>
          <a:xfrm>
            <a:off x="4318000" y="3863280"/>
            <a:ext cx="340106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Отстройка 6,89 кГц: выброс и провал огибающей в начале — биения с |ν − ν₀| ≈ 0,8 кГц</a:t>
            </a:r>
            <a:endParaRPr lang="en-US" sz="1200" dirty="0"/>
          </a:p>
        </p:txBody>
      </p:sp>
      <p:pic>
        <p:nvPicPr>
          <p:cNvPr id="7" name="Image 2" descr="ln(U0 − Uk) от номера периода k: две прямые, Θ = 0,31 для R1 и 0,21 для R2">    </p:cNvPr>
          <p:cNvPicPr>
            <a:picLocks noChangeAspect="1"/>
          </p:cNvPicPr>
          <p:nvPr/>
        </p:nvPicPr>
        <p:blipFill>
          <a:blip r:embed="rId3"/>
          <a:srcRect l="-40" r="-40" t="0" b="0"/>
          <a:stretch/>
        </p:blipFill>
        <p:spPr>
          <a:xfrm>
            <a:off x="7823200" y="1247080"/>
            <a:ext cx="3556000" cy="2622550"/>
          </a:xfrm>
          <a:prstGeom prst="rect">
            <a:avLst/>
          </a:prstGeom>
        </p:spPr>
      </p:pic>
      <p:pic>
        <p:nvPicPr>
          <p:cNvPr id="8" name="Image 3" descr="Θ = (1/n)·ln((U0 − Uk)/(U0 − Uk+n))">    </p:cNvPr>
          <p:cNvPicPr>
            <a:picLocks noChangeAspect="1"/>
          </p:cNvPicPr>
          <p:nvPr/>
        </p:nvPicPr>
        <p:blipFill>
          <a:blip r:embed="rId4"/>
          <a:srcRect l="0" r="0" t="-199" b="-199"/>
          <a:stretch/>
        </p:blipFill>
        <p:spPr>
          <a:xfrm>
            <a:off x="7823200" y="3933130"/>
            <a:ext cx="1841500" cy="5588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12800" y="4720530"/>
            <a:ext cx="11379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резонансе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 =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₀(1 − exp(−γ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)): ln(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₀ −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k) падает линейно с номером периода, наклон = −Θ.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₁: Θ = 0,31 ± 0,03;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₂: Θ = 0,21 ± 0,01</a:t>
            </a:r>
            <a:endParaRPr lang="en-US" sz="1300" dirty="0"/>
          </a:p>
        </p:txBody>
      </p:sp>
      <p:sp>
        <p:nvSpPr>
          <p:cNvPr id="10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Зеличенко Д. Д. · Б04-505 · 3.2.4 + 3.2.5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C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Добротность: сравнение способов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85180"/>
          <a:ext cx="10553700" cy="3074690"/>
        </p:xfrm>
        <a:graphic>
          <a:graphicData uri="http://schemas.openxmlformats.org/drawingml/2006/table">
            <a:tbl>
              <a:tblPr/>
              <a:tblGrid>
                <a:gridCol w="2532888"/>
                <a:gridCol w="4010406"/>
                <a:gridCol w="2005203"/>
                <a:gridCol w="2005203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Способ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Что измеряли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R₁ = 0,41 кОм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R₂ = 0,20 кОм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Теория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(1/RΣ)√(L/CΣ)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8,8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17,2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Декремент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осциллограмма, π/Θ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7,3 ± 0,6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14,1 ± 1,4*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Спираль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фазовая плоскость, π/Θ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7,2 ± 0,6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15,4 ± 1,9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АЧХ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аппроксимация кривой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7,1 ± 0,2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14,4 ± 0,4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Нарастание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цуг, ln(U₀ − Uk)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10,0 ± 0,9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14,8 ± 0,6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Среднее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взвешенное по эксперименту**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7,1 ± 0,2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14,5 ± 0,3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613870"/>
            <a:ext cx="1088339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* точка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0,21 кОм. ** для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₁ без нарастания: там </a:t>
            </a:r>
            <a:r>
              <a:rPr lang="en-US" sz="1300" i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₀, вероятно, занижено. ФЧХ и затухание после цуга не измерялись. Формулы погрешностей — Приложение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Зеличенко Д. Д. · Б04-505 · 3.2.4 + 3.2.5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4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97880"/>
            <a:ext cx="3556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97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95400" y="1297880"/>
            <a:ext cx="102031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Контур обладает собственной ёмкостью </a:t>
            </a:r>
            <a:r>
              <a:rPr lang="en-US" sz="16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C₀ = 1,06 нФ</a:t>
            </a: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С её учётом период свободных колебаний совпадает с формулой Томсона лучше 1,2 %, а резонансная частота 6,09 кГц — с измеренной 6,11 кГц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044601"/>
            <a:ext cx="3556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97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2044601"/>
            <a:ext cx="102031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Зависимость 1/Θ² от 1/</a:t>
            </a:r>
            <a:r>
              <a:rPr lang="en-US" sz="1600" i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Σ² линейна; критическое сопротивление </a:t>
            </a:r>
            <a:r>
              <a:rPr lang="en-US" sz="16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Rкр = 6,9 ± 0,6 кОм</a:t>
            </a: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при расчётном 7,65 кОм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791321"/>
            <a:ext cx="3556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97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2791321"/>
            <a:ext cx="102031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Независимые способы дают согласованную добротность, среднее взвешенное: </a:t>
            </a:r>
            <a:r>
              <a:rPr lang="en-US" sz="16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 = 7,1 ± 0,2</a:t>
            </a: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при 0,41 кОм и </a:t>
            </a:r>
            <a:r>
              <a:rPr lang="en-US" sz="16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 = 14,5 ± 0,3</a:t>
            </a: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при 0,20 кОм; уменьшение </a:t>
            </a:r>
            <a:r>
              <a:rPr lang="en-US" sz="1600" i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вдвое удваивает </a:t>
            </a:r>
            <a:r>
              <a:rPr lang="en-US" sz="1600" i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</a:t>
            </a: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как и следует из </a:t>
            </a:r>
            <a:r>
              <a:rPr lang="en-US" sz="1600" i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</a:t>
            </a: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∝ 1/</a:t>
            </a:r>
            <a:r>
              <a:rPr lang="en-US" sz="1600" i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538041"/>
            <a:ext cx="3556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97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3538041"/>
            <a:ext cx="102031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Измеренное затухание на 15–20 % больше рассчитанного по </a:t>
            </a:r>
            <a:r>
              <a:rPr lang="en-US" sz="1600" i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+ </a:t>
            </a:r>
            <a:r>
              <a:rPr lang="en-US" sz="1600" i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кат: на 6 кГц в контуре есть дополнительные потери (катушка, магазины, генератор через </a:t>
            </a:r>
            <a:r>
              <a:rPr lang="en-US" sz="1600" i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r>
              <a:rPr lang="en-US" sz="16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₁)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Зеличенко Д. Д. · Б04-505 · 3.2.4 + 3.2.5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.2.4 + 3.2.5 Колебания в контуре">
  <a:themeElements>
    <a:clrScheme name="3.2.4 + 3.2.5 Колебания в контуре">
      <a:dk1>
        <a:srgbClr val="1C2430"/>
      </a:dk1>
      <a:lt1>
        <a:srgbClr val="FBFBF8"/>
      </a:lt1>
      <a:dk2>
        <a:srgbClr val="545A62"/>
      </a:dk2>
      <a:lt2>
        <a:srgbClr val="E5E6E4"/>
      </a:lt2>
      <a:accent1>
        <a:srgbClr val="D97A1E"/>
      </a:accent1>
      <a:accent2>
        <a:srgbClr val="2B6CB0"/>
      </a:accent2>
      <a:accent3>
        <a:srgbClr val="8FB8E8"/>
      </a:accent3>
      <a:accent4>
        <a:srgbClr val="7A8492"/>
      </a:accent4>
      <a:accent5>
        <a:srgbClr val="4A5563"/>
      </a:accent5>
      <a:accent6>
        <a:srgbClr val="8E99A8"/>
      </a:accent6>
      <a:hlink>
        <a:srgbClr val="0563C1"/>
      </a:hlink>
      <a:folHlink>
        <a:srgbClr val="954F72"/>
      </a:folHlink>
    </a:clrScheme>
    <a:fontScheme name="3.2.4 + 3.2.5 Колебания в контуре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3.2.4 + 3.2.5 Колебания в контуре</dc:title>
  <dc:subject/>
  <dc:creator/>
  <cp:lastModifiedBy/>
  <cp:revision>1</cp:revision>
  <dcterms:created xsi:type="dcterms:W3CDTF">2026-10-12T19:36:40Z</dcterms:created>
  <dcterms:modified xsi:type="dcterms:W3CDTF">2026-10-12T19:36:40Z</dcterms:modified>
</cp:coreProperties>
</file>