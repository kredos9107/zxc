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3-2.jpg" ContentType="image/jpg"/>
  <Override PartName="/ppt/media/image-5-1.jpg" ContentType="image/jpg"/>
  <Override PartName="/ppt/media/image-7-1.jpg" ContentType="image/jpg"/>
  <Override PartName="/ppt/media/image-9-1.jpg" ContentType="image/jpg"/>
  <Override PartName="/ppt/media/image-9-2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Здравствуйте. Я расскажу о двух связанных лабораторных: 3.2.4 про свободные колебания в RLC-контуре и 3.2.5 про вынужденные колебания в том же контуре. На установке это одна работа, поэтому рассказываю их вместе.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Цель — исследовать колебания в контуре и определить его параметры. Задачи четыре: период от ёмкости и собственная ёмкость контура; декремент и критическое сопротивление; резонансные кривые и установление колебаний; и в итоге добротность, найденная несколькими независимыми способами.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Схема из методички: генератор через маленькую ёмкость C1 подаёт сигнал на контур из магазина индуктивности, магазина ёмкостей и магазина сопротивлений. Напряжение на конденсаторе идёт на первый канал осциллографа, напряжение на резисторе, пропорциональное току, — на второй. Генератор работает в трёх режимах: короткие импульсы для свободных колебаний, синус для резонансных кривых, цуги для установления. Из уравнения контура получаются коэффициент затухания и собственная частота. Всё, что дальше измеряем, сводится к декременту: из него добротность, а из зависимости декремента от R — критическое сопротивление. Вывод формул и формулы погрешностей вынесены в приложение.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 нулевой ёмкости на магазине контур всё равно колеблется с периодом 64,8 мкс. Значит, у контура есть паразитная ёмкость — соединительная коробка, провода, вход осциллографа. По периоду это 1,06 нФ. На графике по оси X теоретический период с учётом этой ёмкости, по Y — измеренный. Нижняя панель — разность: все точки лежат на нуле в пределах погрешности 2 мкс, то есть формула Томсона подтверждается. Наклон T² от C даёт индуктивность 101 мГн — с LCR-метром расхождение 1,2 %, в пределах погрешности; пересечение даёт ту же C0. Эту ёмкость прибавляем во всех следующих расчётах.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Ёмкость выставили под собственную частоту 6,5 кГц, на магазине 5,76 нФ. Первый всплеск на осциллограмме — это сам импульс генератора, во время него колебания вынужденные, поэтому отсчёт ведём от первого максимума после импульса. Декремент — по двум максимумам через n периодов, добротность — π/Θ. С ростом R декремент растёт, добротность падает. Но при малых R декремент выходит на полку около 0,22 и дальше не уменьшается: в контуре есть потери, которые от R не зависят.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Из связи декремента с сопротивлением следует линейная зависимость 1/Θ² от 1/R², наклон даёт критическое сопротивление. Точки — декременты с прошлого слайда. Ошибку отсчёта амплитуды берём как половину толщины линии луча, 16 мВ: курсор ставится на середину линии. Погрешность 1/Θ² пропорциональна ΔΘ/Θ³, поэтому при малых декрементах кресты большие. Все точки ложатся на прямую в пределах погрешности. Наклон даёт 7,8 ± 1,3 кОм, расчёт с учётом собственной ёмкости 7,65 — совпадение. Без учёта собственной ёмкости было бы 8,16. Подбор на экране даёт меньше, 6,1, потому что около Rкр последний выброс сливается с линией.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Второй способ посмотреть на те же колебания — фазовая плоскость: по X напряжение на конденсаторе, по Y ток. Затухающие колебания дают скручивающуюся спираль. Курсоры ставили на два соседних витка, между ними ровно один период. Декремент при 0,41 кОм совпал с осциллограммой. С ростом R добротность падает, при малых R близка к теории.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вынужденные колебания. Резонансные кривые сняты при двух сопротивлениях, 0,41 и 0,20 кОм. Точки аппроксимированы резонансной кривой с тремя параметрами. Вдвое большее сопротивление даёт вдвое более широкую кривую: добротность 7,1 против 14,4. Резонанс оказался на 6,1 кГц, а не на рассчитанных 6,5 — это собственная ёмкость: с её учётом расчёт даёт 6,09 кГц, совпадение 0,3 %.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 контур подаются цуги — отрезки синусоиды по 15 периодов. На резонансе амплитуда нарастает к установившемуся значению по закону 1 − e^(−γt), поэтому ln(U0 − Uk) падает линейно с номером периода, наклон даёт декремент: 0,31 и 0,21. При отстройке от резонанса в начале цуга видны биения: складываются вынужденные колебания на частоте генератора и затухающие собственные на частоте ν0, огибающая пульсирует с разностной частотой около 0,8 кГц, пока собственные колебания не затухнут.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Сводная таблица добротностей. Для R2 все экспериментальные способы дают 14–15 и согласуются в пределах погрешности, среднее взвешенное 14,5 ± 0,3. Для R1 декремент, спираль и АЧХ дают около 7,1; нарастание выбивается, скорее всего установившаяся амплитуда записана чуть ниже реальной, поэтому в среднее его не включаем. Самый точный способ — АЧХ, там используются все точки кривой. Теория во всех случаях выше на 15–20 %: неучтённые потери в контуре.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Итак. Первое — у контура есть собственная ёмкость около нанофарады, и без неё ни период, ни резонансная частота не сходятся с теорией. Второе — критическое сопротивление по наклону графика 7,8 ± 1,3 кОм, совпадает с расчётом. Третье — все экспериментальные методы дают согласованную добротность, и она обратно пропорциональна сопротивлению. Четвёртое — реальные потери в контуре на 15–20 % больше, чем дают сопротивление магазина и катушки. Спасибо, готов ответить на вопросы.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554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spc="200" kern="0" dirty="0">
                <a:solidFill>
                  <a:srgbClr val="8FB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ЛАБОРАТОРНЫЕ РАБОТЫ 3.2.4 + 3.2.5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057400"/>
            <a:ext cx="10058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44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Свободные и вынужденные колебания в электрическом контуре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1148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C9D1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Зеличенко Данил Данилович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C9D1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группа Б04-505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3093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8E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МФТИ · Лабораторный практикум по общей физике · Электричество и магнетизм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2648" y="4114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3000" b="1" dirty="0">
                <a:solidFill>
                  <a:srgbClr val="1C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и задачи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12648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7A84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Зеличенко Д. Д. · Б04-505 · 3.2.4 + 3.2.5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0241280" y="6355080"/>
            <a:ext cx="1344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7A84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11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612648" y="1188720"/>
            <a:ext cx="10972800" cy="1188720"/>
          </a:xfrm>
          <a:prstGeom prst="rect">
            <a:avLst/>
          </a:prstGeom>
          <a:solidFill>
            <a:srgbClr val="EEF3F9"/>
          </a:solidFill>
          <a:ln w="12700">
            <a:solidFill>
              <a:srgbClr val="EEF3F9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822960" y="13258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1C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Исследовать свободные и вынужденные колебания в RLC-контуре и определить его параметры: собственную ёмкость, критическое сопротивление и добротность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12648" y="2743200"/>
            <a:ext cx="53949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DE2E8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841248" y="297180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D9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1389888" y="2971800"/>
            <a:ext cx="4434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C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Зависимость периода свободных колебаний от ёмкости, собственная ёмкость контура C₀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190488" y="2743200"/>
            <a:ext cx="53949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DE2E8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419088" y="297180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D9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6967728" y="2971800"/>
            <a:ext cx="4434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C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Декремент затухания Θ(R) и критическое сопротивление Rкр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612648" y="4343400"/>
            <a:ext cx="53949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DE2E8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 txBox="1"/>
          <p:nvPr/>
        </p:nvSpPr>
        <p:spPr>
          <a:xfrm>
            <a:off x="841248" y="457200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D9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1389888" y="4572000"/>
            <a:ext cx="4434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C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Резонансные кривые и процесс установления вынужденных колебаний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190488" y="4343400"/>
            <a:ext cx="53949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DE2E8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 txBox="1"/>
          <p:nvPr/>
        </p:nvSpPr>
        <p:spPr>
          <a:xfrm>
            <a:off x="6419088" y="457200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D9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800" dirty="0"/>
          </a:p>
        </p:txBody>
      </p:sp>
      <p:sp>
        <p:nvSpPr>
          <p:cNvPr id="19" name="Text 16"/>
          <p:cNvSpPr txBox="1"/>
          <p:nvPr/>
        </p:nvSpPr>
        <p:spPr>
          <a:xfrm>
            <a:off x="6967728" y="4572000"/>
            <a:ext cx="4434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C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Добротность контура разными способами и сравнение с теорией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2648" y="4114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3000" b="1" dirty="0">
                <a:solidFill>
                  <a:srgbClr val="1C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Установка и основные формулы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12648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7A84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Зеличенко Д. Д. · Б04-505 · 3.2.4 + 3.2.5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0241280" y="6355080"/>
            <a:ext cx="1344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7A84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11</a:t>
            </a:r>
            <a:endParaRPr lang="en-US" sz="1100" dirty="0"/>
          </a:p>
        </p:txBody>
      </p:sp>
      <p:pic>
        <p:nvPicPr>
          <p:cNvPr id="6" name="Image 0" descr="Схема установки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" y="1097280"/>
            <a:ext cx="6126480" cy="226771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12648" y="3401568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 установки (из методического описания)</a:t>
            </a:r>
            <a:endParaRPr lang="en-US" sz="1200" dirty="0"/>
          </a:p>
        </p:txBody>
      </p:sp>
      <p:pic>
        <p:nvPicPr>
          <p:cNvPr id="8" name="Image 1" descr="Фото установки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995160" y="1097280"/>
            <a:ext cx="4572000" cy="2267712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6995160" y="34015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= 100 мГн (магазин), C, R — магазины</a:t>
            </a:r>
            <a:endParaRPr lang="en-US" sz="1200" dirty="0"/>
          </a:p>
        </p:txBody>
      </p:sp>
      <p:sp>
        <p:nvSpPr>
          <p:cNvPr id="10" name="Text 5"/>
          <p:cNvSpPr txBox="1"/>
          <p:nvPr/>
        </p:nvSpPr>
        <p:spPr>
          <a:xfrm>
            <a:off x="612648" y="3840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C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Формулы, по которым ведётся обработка </a:t>
            </a:r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7A84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(вывод и погрешности — Приложение)</a:t>
            </a:r>
            <a:endParaRPr lang="en-US" sz="1500" dirty="0"/>
          </a:p>
        </p:txBody>
      </p:sp>
      <p:pic>
        <p:nvPicPr>
          <p:cNvPr id="11" name="Image 2" descr="Уравнение свободных колебаний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12648" y="4297680"/>
            <a:ext cx="4352544" cy="59436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612648" y="502920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γ — коэффициент затухания, ω₀ — собственная частота, RΣ = R + Rкат (Rкат = 22,8 Ом)</a:t>
            </a:r>
            <a:endParaRPr lang="en-US" sz="1200" dirty="0"/>
          </a:p>
        </p:txBody>
      </p:sp>
      <p:pic>
        <p:nvPicPr>
          <p:cNvPr id="13" name="Image 3" descr="Декремент, добротность, Rкр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355080" y="4297680"/>
            <a:ext cx="5029200" cy="621792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6355080" y="502920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Θ — логарифмический декремент по амплитудам через n периодов, Q — добротность, Rкр — критическое сопротивление</a:t>
            </a:r>
            <a:endParaRPr lang="en-US" sz="1200" dirty="0"/>
          </a:p>
        </p:txBody>
      </p:sp>
      <p:sp>
        <p:nvSpPr>
          <p:cNvPr id="15" name="TextBox 14"/>
          <p:cNvSpPr txBox="1"/>
          <p:nvPr/>
        </p:nvSpPr>
        <p:spPr>
          <a:xfrm>
            <a:off x="612648" y="5687568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200" b="1">
                <a:solidFill>
                  <a:srgbClr val="1C2430"/>
                </a:solidFill>
                <a:latin typeface="Calibri"/>
              </a:rPr>
              <a:t>Режимы генератора: </a:t>
            </a:r>
            <a:r>
              <a:rPr sz="1200" b="0">
                <a:solidFill>
                  <a:srgbClr val="4A5563"/>
                </a:solidFill>
                <a:latin typeface="Calibri"/>
              </a:rPr>
              <a:t>короткие импульсы — свободные колебания (пп. 1–2); синус — резонансные кривые; цуги по 15 периодов — установление колебаний. Канал 1 — напряжение на C, канал 2 — сигнал генератора или напряжение на R (∝ ток).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2648" y="4114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3000" b="1" dirty="0">
                <a:solidFill>
                  <a:srgbClr val="1C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Период свободных колебаний и собственная ёмкость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12648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7A84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Зеличенко Д. Д. · Б04-505 · 3.2.4 + 3.2.5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0241280" y="6355080"/>
            <a:ext cx="1344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7A84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11</a:t>
            </a:r>
            <a:endParaRPr lang="en-US" sz="1100" dirty="0"/>
          </a:p>
        </p:txBody>
      </p:sp>
      <p:pic>
        <p:nvPicPr>
          <p:cNvPr id="6" name="Image 0" descr="T эксп от T теор и разность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" y="1097280"/>
            <a:ext cx="5074920" cy="398678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035040" y="2331720"/>
            <a:ext cx="5532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sz="1400" b="0">
                <a:solidFill>
                  <a:srgbClr val="4A5563"/>
                </a:solidFill>
                <a:latin typeface="Calibri"/>
              </a:rPr>
              <a:t>При C = 0 контур всё равно колеблется (T₀ = 64,8 мкс): это ёмкость коробки, проводов и входа осциллографа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6035040" y="2926080"/>
            <a:ext cx="5532120" cy="777240"/>
          </a:xfrm>
          <a:prstGeom prst="rect">
            <a:avLst/>
          </a:prstGeom>
          <a:solidFill>
            <a:srgbClr val="EEF3F9"/>
          </a:solidFill>
          <a:ln w="12700">
            <a:solidFill>
              <a:srgbClr val="EEF3F9"/>
            </a:solidFill>
            <a:prstDash val="solid"/>
          </a:ln>
        </p:spPr>
        <p:txBody>
          <a:bodyPr/>
          <a:p/>
        </p:txBody>
      </p:sp>
      <p:sp>
        <p:nvSpPr>
          <p:cNvPr id="9" name="Text 5"/>
          <p:cNvSpPr txBox="1"/>
          <p:nvPr/>
        </p:nvSpPr>
        <p:spPr>
          <a:xfrm>
            <a:off x="6217920" y="297180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2B6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C₀ = T₀²/4π²L = 1,06 нФ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6035040" y="3840480"/>
            <a:ext cx="5532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SzPct val="100000"/>
              <a:buNone/>
            </a:pPr>
            <a:r>
              <a:rPr sz="1400" b="0">
                <a:solidFill>
                  <a:srgbClr val="1C2430"/>
                </a:solidFill>
                <a:latin typeface="Calibri"/>
              </a:rPr>
              <a:t>Tэксп совпадает с Tтеор = 2π√(L(C + C₀)) в пределах ΔT (нижняя панель)</a:t>
            </a:r>
            <a:endParaRPr lang="en-US" sz="1400" dirty="0"/>
          </a:p>
          <a:p>
            <a:pPr marL="0" indent="0">
              <a:spcAft>
                <a:spcPts val="600"/>
              </a:spcAft>
              <a:buNone/>
            </a:pPr>
            <a:r>
              <a:rPr sz="1400" b="0">
                <a:solidFill>
                  <a:srgbClr val="1C2430"/>
                </a:solidFill>
                <a:latin typeface="Calibri"/>
              </a:rPr>
              <a:t>Наклон T²(C) даёт L = 101,1 ± 0,9 мГн; LCR-метр — 99,95 мГн (1,3σ)</a:t>
            </a:r>
          </a:p>
        </p:txBody>
      </p:sp>
      <p:sp>
        <p:nvSpPr>
          <p:cNvPr id="11" name="Text 7"/>
          <p:cNvSpPr txBox="1"/>
          <p:nvPr/>
        </p:nvSpPr>
        <p:spPr>
          <a:xfrm>
            <a:off x="6035040" y="5120640"/>
            <a:ext cx="5532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C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Дальше: CΣ = 5,76 + 1,06 = 6,82 нФ</a:t>
            </a:r>
            <a:endParaRPr lang="en-US" sz="1500" dirty="0"/>
          </a:p>
        </p:txBody>
      </p:sp>
      <p:sp>
        <p:nvSpPr>
          <p:cNvPr id="12" name="Rectangle 11"/>
          <p:cNvSpPr/>
          <p:nvPr/>
        </p:nvSpPr>
        <p:spPr>
          <a:xfrm>
            <a:off x="6035040" y="1097280"/>
            <a:ext cx="5532120" cy="1097280"/>
          </a:xfrm>
          <a:prstGeom prst="rect">
            <a:avLst/>
          </a:prstGeom>
          <a:solidFill>
            <a:srgbClr val="EEF3F9"/>
          </a:solidFill>
          <a:ln>
            <a:solidFill>
              <a:srgbClr val="EEF3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9631" y="1188720"/>
            <a:ext cx="520293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200" b="1">
                <a:solidFill>
                  <a:srgbClr val="2B6CB0"/>
                </a:solidFill>
                <a:latin typeface="Calibri"/>
              </a:rPr>
              <a:t>КАК МЕРИЛИ</a:t>
            </a:r>
          </a:p>
          <a:p>
            <a:pPr marL="0" indent="0">
              <a:spcAft>
                <a:spcPts val="400"/>
              </a:spcAft>
              <a:buNone/>
            </a:pPr>
            <a:r>
              <a:rPr sz="1300" b="0">
                <a:solidFill>
                  <a:srgbClr val="1C2430"/>
                </a:solidFill>
                <a:latin typeface="Calibri"/>
              </a:rPr>
              <a:t>R = 0, импульсы 10 мкс с частотой 100 Гц. Меняли C на магазине от 0 до 0,009 мкФ, период снимали курсорами времени между соседними максимумами (ΔT ≈ 2 мкс).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2648" y="4114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3000" b="1" dirty="0">
                <a:solidFill>
                  <a:srgbClr val="1C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Декремент затухания и добротность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12648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7A84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Зеличенко Д. Д. · Б04-505 · 3.2.4 + 3.2.5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0241280" y="6355080"/>
            <a:ext cx="1344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7A84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11</a:t>
            </a:r>
            <a:endParaRPr lang="en-US" sz="1100" dirty="0"/>
          </a:p>
        </p:txBody>
      </p:sp>
      <p:pic>
        <p:nvPicPr>
          <p:cNvPr id="6" name="Image 0" descr="Осциллограмма затухающих колебаний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" y="1097280"/>
            <a:ext cx="5458968" cy="172821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12648" y="2880360"/>
            <a:ext cx="5458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sz="1200" b="0">
                <a:solidFill>
                  <a:srgbClr val="4A5563"/>
                </a:solidFill>
                <a:latin typeface="Calibri"/>
              </a:rPr>
              <a:t>R = 0,41 кОм, 100 мкс/дел. Первый всплеск — импульс генератора, он искажён; отсчёт ведём с первого ровного максимума</a:t>
            </a:r>
            <a:endParaRPr lang="en-US" sz="1200" dirty="0"/>
          </a:p>
        </p:txBody>
      </p:sp>
      <p:pic>
        <p:nvPicPr>
          <p:cNvPr id="8" name="Image 1" descr="Θ, Q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2648" y="3566160"/>
            <a:ext cx="5029200" cy="621792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612648" y="4343400"/>
            <a:ext cx="54589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pPr indent="0" marL="0">
              <a:spcAft>
                <a:spcPts val="400"/>
              </a:spcAft>
              <a:buNone/>
            </a:pPr>
            <a:r>
              <a:rPr sz="1400" b="0">
                <a:solidFill>
                  <a:srgbClr val="4A5563"/>
                </a:solidFill>
                <a:latin typeface="Calibri"/>
              </a:rPr>
              <a:t>ΔU ≈ 16 мВ — точность установки курсора на вершину пика (полтолщины линии); шаг курсора 2 мВ меньше.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sz="1400" b="0">
                <a:solidFill>
                  <a:srgbClr val="4A5563"/>
                </a:solidFill>
                <a:latin typeface="Calibri"/>
              </a:rPr>
              <a:t>Отклонения Θ от теории разного знака — случайная ошибка отсчёта, систематики нет.</a:t>
            </a:r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097280"/>
          <a:ext cx="516636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457200"/>
                <a:gridCol w="1371600"/>
                <a:gridCol w="960120"/>
                <a:gridCol w="150876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R, кОм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Θ теор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 = π/Θ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 ± 0,07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 ± 1,2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 ± 0,04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11,3 ± 1,8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0,23 ± 0,03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13,9 ± 2,1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 ± 0,05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14,2 ± 3,0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 ± 0,05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14,1 ± 2,9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0" y="3794760"/>
            <a:ext cx="5166360" cy="1783080"/>
          </a:xfrm>
          <a:prstGeom prst="rect">
            <a:avLst/>
          </a:prstGeom>
          <a:solidFill>
            <a:srgbClr val="EEF3F9"/>
          </a:solidFill>
          <a:ln>
            <a:solidFill>
              <a:srgbClr val="EEF3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3886200"/>
            <a:ext cx="4837176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200" b="1">
                <a:solidFill>
                  <a:srgbClr val="2B6CB0"/>
                </a:solidFill>
                <a:latin typeface="Calibri"/>
              </a:rPr>
              <a:t>КАК МЕРИЛИ</a:t>
            </a:r>
          </a:p>
          <a:p>
            <a:pPr marL="0" indent="0">
              <a:spcAft>
                <a:spcPts val="400"/>
              </a:spcAft>
              <a:buNone/>
            </a:pPr>
            <a:r>
              <a:rPr sz="1300" b="0">
                <a:solidFill>
                  <a:srgbClr val="1C2430"/>
                </a:solidFill>
                <a:latin typeface="Calibri"/>
              </a:rPr>
              <a:t>C = 5,76 нФ, R = 0,21–0,41 кОм. Курсор b — на нулевую линию, курсор a — на первый ровный максимум (Um), затем на максимум через n периодов (Um+n).</a:t>
            </a:r>
          </a:p>
          <a:p>
            <a:pPr marL="0" indent="0">
              <a:spcAft>
                <a:spcPts val="400"/>
              </a:spcAft>
              <a:buNone/>
            </a:pPr>
            <a:r>
              <a:rPr sz="1300" b="0">
                <a:solidFill>
                  <a:srgbClr val="1C2430"/>
                </a:solidFill>
                <a:latin typeface="Calibri"/>
              </a:rPr>
              <a:t>Θ = (1/n)·ln(Um/Um+n),  ΔΘ = (ΔU/n)·√(1/Um² + 1/Um+n²)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2648" y="4114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3000" b="1" dirty="0">
                <a:solidFill>
                  <a:srgbClr val="1C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Критическое сопротивление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12648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7A84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Зеличенко Д. Д. · Б04-505 · 3.2.4 + 3.2.5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0241280" y="6355080"/>
            <a:ext cx="1344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7A84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11</a:t>
            </a:r>
            <a:endParaRPr lang="en-US" sz="1100" dirty="0"/>
          </a:p>
        </p:txBody>
      </p:sp>
      <p:pic>
        <p:nvPicPr>
          <p:cNvPr id="6" name="Image 0" descr="График 1/Θ² от 1/RΣ²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" y="1097280"/>
            <a:ext cx="5349240" cy="3950208"/>
          </a:xfrm>
          <a:prstGeom prst="rect">
            <a:avLst/>
          </a:prstGeom>
        </p:spPr>
      </p:pic>
      <p:pic>
        <p:nvPicPr>
          <p:cNvPr id="7" name="Image 1" descr="1/Θ² = (Rкр²/4π²)(1/RΣ²) − 1/4π²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63640" y="1097280"/>
            <a:ext cx="2377440" cy="82296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6263640" y="2011680"/>
            <a:ext cx="5303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sz="1300" b="0">
                <a:solidFill>
                  <a:srgbClr val="4A5563"/>
                </a:solidFill>
                <a:latin typeface="Calibri"/>
              </a:rPr>
              <a:t>Θ из прошлого слайда пересчитан в Y = 1/Θ², X = 1/RΣ². Наклон прямой (взвешенный МНК) = Rкр²/4π², ошибка ΔY = 2ΔΘ/Θ³.</a:t>
            </a:r>
            <a:endParaRPr lang="en-US" sz="1300" dirty="0"/>
          </a:p>
        </p:txBody>
      </p:sp>
      <p:sp>
        <p:nvSpPr>
          <p:cNvPr id="9" name="Text 4"/>
          <p:cNvSpPr txBox="1"/>
          <p:nvPr/>
        </p:nvSpPr>
        <p:spPr>
          <a:xfrm>
            <a:off x="6263640" y="301752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sz="1300" b="0">
                <a:solidFill>
                  <a:srgbClr val="4A5563"/>
                </a:solidFill>
                <a:latin typeface="Calibri"/>
              </a:rPr>
              <a:t>Разброс большой: R взяты в узком диапазоне 0,03–0,05 Rкр (по методичке 0,05–0,25), Θ меняется всего вдвое при ΔΘ ≈ 0,03–0,07. В пределах погрешности точки на прямой, χ² = 2,1 (3 ст. своб.)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886200"/>
          <a:ext cx="530352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Способ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Rкр, кОм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Расчёт 2√(L/C) без C₀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 же с учётом C₀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 наклону графика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 ± 1,3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Подбор: R до исчезновения колебаний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669280"/>
            <a:ext cx="5303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sz="1200" b="0">
                <a:solidFill>
                  <a:srgbClr val="4A5563"/>
                </a:solidFill>
                <a:latin typeface="Calibri"/>
              </a:rPr>
              <a:t>Подбор занижен: у Rкр последний выброс тоньше линии и «пропадает» раньше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2648" y="4114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3000" b="1" dirty="0">
                <a:solidFill>
                  <a:srgbClr val="1C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Свободные колебания на фазовой плоскости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12648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7A84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Зеличенко Д. Д. · Б04-505 · 3.2.4 + 3.2.5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0241280" y="6355080"/>
            <a:ext cx="1344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7A84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11</a:t>
            </a:r>
            <a:endParaRPr lang="en-US" sz="1100" dirty="0"/>
          </a:p>
        </p:txBody>
      </p:sp>
      <p:pic>
        <p:nvPicPr>
          <p:cNvPr id="6" name="Image 0" descr="Спираль в режиме X–Y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" y="1097280"/>
            <a:ext cx="3931920" cy="382219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12648" y="49834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Режим X–Y, R = 0,26 кОм; курсоры a, b — соседние витки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4937760" y="1097280"/>
            <a:ext cx="6629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sz="1400" b="1">
                <a:solidFill>
                  <a:srgbClr val="2B6CB0"/>
                </a:solidFill>
                <a:latin typeface="Calibri"/>
              </a:rPr>
              <a:t>Как мерили: </a:t>
            </a:r>
            <a:r>
              <a:rPr sz="1400" b="0">
                <a:solidFill>
                  <a:srgbClr val="1C2430"/>
                </a:solidFill>
                <a:latin typeface="Calibri"/>
              </a:rPr>
              <a:t>импульсы 100 мкс, 150 Гц; X — напряжение на C, Y — напряжение на R (∝ ток), режим X–Y. Курсоры a, b — на пересечения соседних витков с осью X, между ними один период:</a:t>
            </a:r>
            <a:endParaRPr lang="en-US" sz="1500" dirty="0"/>
          </a:p>
          <a:p>
            <a:pPr marL="0" indent="0">
              <a:spcAft>
                <a:spcPts val="400"/>
              </a:spcAft>
              <a:buNone/>
            </a:pPr>
            <a:r>
              <a:rPr sz="1400" b="1">
                <a:solidFill>
                  <a:srgbClr val="1C2430"/>
                </a:solidFill>
                <a:latin typeface="Calibri"/>
              </a:rPr>
              <a:t>Θ = ln(Xk / Xk+1),  Q = π/Θ</a:t>
            </a:r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37760" y="2377440"/>
          <a:ext cx="66294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554480"/>
                <a:gridCol w="2011680"/>
                <a:gridCol w="150876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R, кОм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 = π/Θ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 теор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 ± 0,6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 ± 0,8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8,6 ± 0,7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13,5 ± 1,6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15,4 ± 1,9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5"/>
          <p:cNvSpPr txBox="1"/>
          <p:nvPr/>
        </p:nvSpPr>
        <p:spPr>
          <a:xfrm>
            <a:off x="4937760" y="5349240"/>
            <a:ext cx="6629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R = 0,41 кОм спираль и осциллограмма дают один декремент: 0,44 и 0,43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2648" y="4114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3000" b="1" dirty="0">
                <a:solidFill>
                  <a:srgbClr val="1C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Резонансные кривые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12648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7A84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Зеличенко Д. Д. · Б04-505 · 3.2.4 + 3.2.5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0241280" y="6355080"/>
            <a:ext cx="1344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7A84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11</a:t>
            </a:r>
            <a:endParaRPr lang="en-US" sz="1100" dirty="0"/>
          </a:p>
        </p:txBody>
      </p:sp>
      <p:pic>
        <p:nvPicPr>
          <p:cNvPr id="6" name="Image 0" descr="Резонансные кривые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" y="1097280"/>
            <a:ext cx="6345936" cy="39319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223760" y="1097280"/>
            <a:ext cx="4343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sz="1300" b="1">
                <a:solidFill>
                  <a:srgbClr val="2B6CB0"/>
                </a:solidFill>
                <a:latin typeface="Calibri"/>
              </a:rPr>
              <a:t>Как мерили: </a:t>
            </a:r>
            <a:r>
              <a:rPr sz="1300" b="0">
                <a:solidFill>
                  <a:srgbClr val="1C2430"/>
                </a:solidFill>
                <a:latin typeface="Calibri"/>
              </a:rPr>
              <a:t>синус с генератора, R₁ и R₂. Резонанс нашли по максимуму амплитуды, дальше шли по частоте в обе стороны до ~0,4·Uрез, амплитуду снимали курсором. Линии — аппроксимация формулой ниже.</a:t>
            </a:r>
            <a:endParaRPr lang="en-US" sz="1300" dirty="0"/>
          </a:p>
        </p:txBody>
      </p:sp>
      <p:pic>
        <p:nvPicPr>
          <p:cNvPr id="8" name="Image 1" descr="Резонансная кривая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223760" y="2468880"/>
            <a:ext cx="3108960" cy="713232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23760" y="3246120"/>
          <a:ext cx="434340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50876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Резонансная частота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ν₀, кГц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аппроксимация, R₁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6,115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аппроксимация, R₂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6,107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расчёт с C₀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расчёт без C₀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4"/>
          <p:cNvSpPr txBox="1"/>
          <p:nvPr/>
        </p:nvSpPr>
        <p:spPr>
          <a:xfrm>
            <a:off x="612648" y="51206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sz="1400" b="1">
                <a:solidFill>
                  <a:srgbClr val="1C2430"/>
                </a:solidFill>
                <a:latin typeface="Calibri"/>
              </a:rPr>
              <a:t>Ширина на уровне Umax/√2: </a:t>
            </a:r>
            <a:r>
              <a:rPr sz="1400" b="0">
                <a:solidFill>
                  <a:srgbClr val="4A5563"/>
                </a:solidFill>
                <a:latin typeface="Calibri"/>
              </a:rPr>
              <a:t>Q = ν₀/2Δν = 6,8 (R₁) и 13,8 (R₂).  </a:t>
            </a:r>
            <a:r>
              <a:rPr sz="1400" b="1">
                <a:solidFill>
                  <a:srgbClr val="1C2430"/>
                </a:solidFill>
                <a:latin typeface="Calibri"/>
              </a:rPr>
              <a:t>Фаза на резонансе: </a:t>
            </a:r>
            <a:r>
              <a:rPr sz="1400" b="0">
                <a:solidFill>
                  <a:srgbClr val="4A5563"/>
                </a:solidFill>
                <a:latin typeface="Calibri"/>
              </a:rPr>
              <a:t>сдвиг между U на C и генератором Δx = 39 мкс (осциллограф), Δφ = 2πνΔx = 86° — по теории 90°.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2648" y="4114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3000" b="1" dirty="0">
                <a:solidFill>
                  <a:srgbClr val="1C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Установление вынужденных колебаний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12648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7A84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Зеличенко Д. Д. · Б04-505 · 3.2.4 + 3.2.5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0241280" y="6355080"/>
            <a:ext cx="1344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7A84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11</a:t>
            </a:r>
            <a:endParaRPr lang="en-US" sz="1100" dirty="0"/>
          </a:p>
        </p:txBody>
      </p:sp>
      <p:pic>
        <p:nvPicPr>
          <p:cNvPr id="6" name="Image 0" descr="Цуг на резонансе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" y="1097280"/>
            <a:ext cx="3291840" cy="22402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12648" y="361188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Резонанс, 6,1 кГц: огибающая нарастает и спадает плавно (синий — сигнал генератора)</a:t>
            </a:r>
            <a:endParaRPr lang="en-US" sz="1200" dirty="0"/>
          </a:p>
        </p:txBody>
      </p:sp>
      <p:pic>
        <p:nvPicPr>
          <p:cNvPr id="8" name="Image 1" descr="Биения при отстройке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114800" y="1097280"/>
            <a:ext cx="3291840" cy="2542032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4114800" y="361188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A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Отстройка 6,89 кГц: выброс и провал огибающей в начале — биения с |ν − ν₀| ≈ 0,8 кГц</a:t>
            </a:r>
            <a:endParaRPr lang="en-US" sz="1200" dirty="0"/>
          </a:p>
        </p:txBody>
      </p:sp>
      <p:pic>
        <p:nvPicPr>
          <p:cNvPr id="10" name="Image 2" descr="ln(U0 − Uk) от k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635240" y="1097280"/>
            <a:ext cx="3931920" cy="2898648"/>
          </a:xfrm>
          <a:prstGeom prst="rect">
            <a:avLst/>
          </a:prstGeom>
        </p:spPr>
      </p:pic>
      <p:pic>
        <p:nvPicPr>
          <p:cNvPr id="11" name="Image 3" descr="Θ по нарастанию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635240" y="4069080"/>
            <a:ext cx="1828800" cy="548640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612648" y="470916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sz="1400" b="1">
                <a:solidFill>
                  <a:srgbClr val="2B6CB0"/>
                </a:solidFill>
                <a:latin typeface="Calibri"/>
              </a:rPr>
              <a:t>Как мерили: </a:t>
            </a:r>
            <a:r>
              <a:rPr sz="1400" b="0">
                <a:solidFill>
                  <a:srgbClr val="1C2430"/>
                </a:solidFill>
                <a:latin typeface="Calibri"/>
              </a:rPr>
              <a:t>цуги по 15 периодов на резонансной частоте, повтор 20 мс. Курсором — установившаяся амплитуда U₀ и амплитуды Uk на k-м периоде нарастания.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sz="1400" b="0">
                <a:solidFill>
                  <a:srgbClr val="4A5563"/>
                </a:solidFill>
                <a:latin typeface="Calibri"/>
              </a:rPr>
              <a:t>U(t) = U₀(1 − e^(−γt)), поэтому ln(U₀ − Uk) падает линейно с k с наклоном −Θ (МНК по всем точкам).  </a:t>
            </a:r>
            <a:r>
              <a:rPr sz="1400" b="1">
                <a:solidFill>
                  <a:srgbClr val="1C2430"/>
                </a:solidFill>
                <a:latin typeface="Calibri"/>
              </a:rPr>
              <a:t>R₁: Θ = 0,31 ± 0,03;  R₂: Θ = 0,21 ± 0,01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2648" y="4114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3000" b="1" dirty="0">
                <a:solidFill>
                  <a:srgbClr val="1C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Добротность: сравнение способов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12648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7A84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Зеличенко Д. Д. · Б04-505 · 3.2.4 + 3.2.5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0241280" y="6355080"/>
            <a:ext cx="1344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7A84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11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" y="1188720"/>
          <a:ext cx="109728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023360"/>
                <a:gridCol w="2286000"/>
                <a:gridCol w="228600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Способ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измеряли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R₁ = 0,41 кОм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R₂ = 0,20 кОм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Теория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(1/RΣ)√(L/CΣ)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Декремент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осциллограмма, π/Θ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 ± 1,2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14,1 ± 2,9*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Спираль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фазовая плоскость, π/Θ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 ± 0,6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15,4 ± 1,9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АЧХ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аппроксимация кривой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 ± 0,2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14,4 ± 0,4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Нарастание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цуг, ln(U₀ − Uk)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 ± 0,9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14,8 ± 0,6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Среднее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взвешенное по эксперименту**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 ± 0,2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C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14,5 ± 0,3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F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612648" y="47548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sz="1300" b="0">
                <a:solidFill>
                  <a:srgbClr val="4A5563"/>
                </a:solidFill>
                <a:latin typeface="Calibri"/>
              </a:rPr>
              <a:t>* точка R = 0,21 кОм.  ** для R₁ без нарастания: там U₀, вероятно, занижено. ФЧХ не снималась (на резонансе Δφ = 86°), затухание после цуга не измерялось.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C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2648" y="4114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3000" b="1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Выводы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12648" y="123444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D9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1234440"/>
            <a:ext cx="10469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sz="1700" b="0">
                <a:solidFill>
                  <a:srgbClr val="F4F1EA"/>
                </a:solidFill>
                <a:latin typeface="Calibri"/>
              </a:rPr>
              <a:t>Контур обладает собственной ёмкостью C₀ = 1,06 нФ. С её учётом период совпадает с формулой Томсона лучше 1,2 %, резонансная частота 6,09 кГц — с измеренной 6,11 кГц; на резонансе сдвиг фаз 86° ≈ 90°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12648" y="244144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D9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2441448"/>
            <a:ext cx="10469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sz="1700" b="0">
                <a:solidFill>
                  <a:srgbClr val="F4F1EA"/>
                </a:solidFill>
                <a:latin typeface="Calibri"/>
              </a:rPr>
              <a:t>Декремент растёт с R и совпадает с теорией в пределах ошибки отсчёта амплитуды; по графику 1/Θ²(1/RΣ²) Rкр = 7,8 ± 1,3 кОм при расчётном 7,65 кОм. Подбор на экране занижает Rкр (6,1 кОм)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12648" y="364845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D9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3648456"/>
            <a:ext cx="10469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rgbClr val="F4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Независимые способы дают согласованную добротность, среднее взвешенное: Q = 7,1 ± 0,2 при 0,41 кОм и Q = 14,5 ± 0,3 при 0,20 кОм; уменьшение R вдвое удваивает Q, как и следует из Q ∝ 1/RΣ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12648" y="4855464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D9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4855464"/>
            <a:ext cx="10469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sz="1700" b="0">
                <a:solidFill>
                  <a:srgbClr val="F4F1EA"/>
                </a:solidFill>
                <a:latin typeface="Calibri"/>
              </a:rPr>
              <a:t>Все экспериментальные Q на 15–20 % ниже рассчитанной по R + Rкат: на 6 кГц потери в контуре больше, чем даёт сопротивление катушки, измеренное LCR-метром на 1,5 кГц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12648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8E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Зеличенко Д. Д. · Б04-505 · 3.2.4 + 3.2.5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0241280" y="6355080"/>
            <a:ext cx="1344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8E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11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3.2.4 + 3.2.5 Колебания в контуре</dc:title>
  <dc:subject>PptxGenJS Presentation</dc:subject>
  <dc:creator>Зеличенко Д. Д.</dc:creator>
  <cp:lastModifiedBy>Зеличенко Д. Д.</cp:lastModifiedBy>
  <cp:revision>1</cp:revision>
  <dcterms:created xsi:type="dcterms:W3CDTF">2026-10-12T20:09:28Z</dcterms:created>
  <dcterms:modified xsi:type="dcterms:W3CDTF">2026-10-12T20:09:28Z</dcterms:modified>
</cp:coreProperties>
</file>