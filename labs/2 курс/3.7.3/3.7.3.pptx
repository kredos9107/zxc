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780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2"/>
          <p:cNvSpPr txBox="1"/>
          <p:nvPr/>
        </p:nvSpPr>
        <p:spPr>
          <a:xfrm>
            <a:off x="822960" y="1737360"/>
            <a:ext cx="10058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3.7.3</a:t>
            </a:r>
            <a:endParaRPr lang="en-US" sz="2000" dirty="0"/>
          </a:p>
        </p:txBody>
      </p:sp>
      <p:sp>
        <p:nvSpPr>
          <p:cNvPr id="3" name="Текстовое поле 3"/>
          <p:cNvSpPr txBox="1"/>
          <p:nvPr/>
        </p:nvSpPr>
        <p:spPr>
          <a:xfrm>
            <a:off x="822960" y="2240280"/>
            <a:ext cx="100584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Длинные линии</a:t>
            </a:r>
            <a:endParaRPr lang="en-US" sz="2400" dirty="0"/>
          </a:p>
        </p:txBody>
      </p:sp>
      <p:sp>
        <p:nvSpPr>
          <p:cNvPr id="4" name="Текстовое поле 4"/>
          <p:cNvSpPr txBox="1"/>
          <p:nvPr/>
        </p:nvSpPr>
        <p:spPr>
          <a:xfrm>
            <a:off x="822960" y="2788920"/>
            <a:ext cx="10058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Распространение сигнала в коаксиальном кабеле и в модели линии (цепочке LC)</a:t>
            </a:r>
            <a:endParaRPr lang="en-US" sz="1800" dirty="0"/>
          </a:p>
        </p:txBody>
      </p:sp>
      <p:sp>
        <p:nvSpPr>
          <p:cNvPr id="5" name="Текстовое поле 5"/>
          <p:cNvSpPr txBox="1"/>
          <p:nvPr/>
        </p:nvSpPr>
        <p:spPr>
          <a:xfrm>
            <a:off x="822960" y="4023360"/>
            <a:ext cx="73152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Данил Данилович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Б04-505</a:t>
            </a:r>
            <a:endParaRPr lang="en-US" sz="1600" dirty="0"/>
          </a:p>
        </p:txBody>
      </p:sp>
      <p:sp>
        <p:nvSpPr>
          <p:cNvPr id="6" name="Текстовое поле 6"/>
          <p:cNvSpPr txBox="1"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2"/>
          <p:cNvSpPr txBox="1"/>
          <p:nvPr/>
        </p:nvSpPr>
        <p:spPr>
          <a:xfrm>
            <a:off x="612648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2400" dirty="0"/>
          </a:p>
        </p:txBody>
      </p:sp>
      <p:sp>
        <p:nvSpPr>
          <p:cNvPr id="3" name="Текстовое поле 3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Текстовое поле 4"/>
          <p:cNvSpPr txBox="1"/>
          <p:nvPr/>
        </p:nvSpPr>
        <p:spPr>
          <a:xfrm>
            <a:off x="612648" y="1097280"/>
            <a:ext cx="109728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работы: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проверить на опыте теорию распространения сигнала вдоль длинной линии, снять АЧХ и ФЧХ коаксиального кабеля и найти его погонные параметры, на модели линии изучить распределение амплитуды вдоль линии.</a:t>
            </a:r>
            <a:endParaRPr lang="en-US" sz="1800" dirty="0"/>
          </a:p>
        </p:txBody>
      </p:sp>
      <p:sp>
        <p:nvSpPr>
          <p:cNvPr id="5" name="Текстовое поле 5"/>
          <p:cNvSpPr txBox="1"/>
          <p:nvPr/>
        </p:nvSpPr>
        <p:spPr>
          <a:xfrm>
            <a:off x="612648" y="2057400"/>
            <a:ext cx="6492240" cy="3840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 резонансным частотам кабеля (синус и импульсы, согласованный и разомкнутый конец) найти V</a:t>
            </a:r>
            <a:r>
              <a:rPr lang="en-US" sz="1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V</a:t>
            </a:r>
            <a:r>
              <a:rPr lang="en-US" sz="1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проверить, есть ли дисперсия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Снять АЧХ и ФЧХ кабеля в диапазоне 1–40 МГц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Из k(ω) и α(ω) найти L</a:t>
            </a:r>
            <a:r>
              <a:rPr lang="en-US" sz="1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</a:t>
            </a:r>
            <a:r>
              <a:rPr lang="en-US" sz="1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εμ и удельную проводимость σ (методы А и Б)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Модель: сдвиг фазы на звено θ(ν), граничная частота ν</a:t>
            </a:r>
            <a:r>
              <a:rPr lang="en-US" sz="1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резонансы при R = 0 и R → ∞, распределение амплитуды вдоль цепочки</a:t>
            </a:r>
            <a:endParaRPr lang="en-US" sz="1600" dirty="0"/>
          </a:p>
        </p:txBody>
      </p:sp>
      <p:sp>
        <p:nvSpPr>
          <p:cNvPr id="6" name="Текстовое поле 6"/>
          <p:cNvSpPr txBox="1"/>
          <p:nvPr/>
        </p:nvSpPr>
        <p:spPr>
          <a:xfrm>
            <a:off x="7406640" y="2057400"/>
            <a:ext cx="4178808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осциллограф АКТАКОМ ADS-6142H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АКИП-3420/1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катушка с кабелем РК 50-4-11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«модель длинной линии»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 сопротивлений Р33</a:t>
            </a:r>
            <a:endParaRPr lang="en-US" sz="1400" dirty="0"/>
          </a:p>
        </p:txBody>
      </p:sp>
      <p:sp>
        <p:nvSpPr>
          <p:cNvPr id="7" name="Текстовое поле 7"/>
          <p:cNvSpPr txBox="1"/>
          <p:nvPr/>
        </p:nvSpPr>
        <p:spPr>
          <a:xfrm>
            <a:off x="7406640" y="4206240"/>
            <a:ext cx="4178808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Исходные данные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 = 50,52 ± 0,2 м (бирка на катушке)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en-US" sz="14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50 Ом (маркировка РК 50)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 = 1,37 мм (описание), D = 4,6 мм (паспорт)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L = 1,5 мГн, C = 47 нФ, N = 10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2"/>
          <p:cNvSpPr txBox="1"/>
          <p:nvPr/>
        </p:nvSpPr>
        <p:spPr>
          <a:xfrm>
            <a:off x="612648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и основные формулы</a:t>
            </a:r>
            <a:endParaRPr lang="en-US" sz="2400" dirty="0"/>
          </a:p>
        </p:txBody>
      </p:sp>
      <p:sp>
        <p:nvSpPr>
          <p:cNvPr id="3" name="Текстовое поле 3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4" name="Рисунок 4" descr="C:\Users\486B~1\AppData\Local\Temp\pres373\scheme_c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051560"/>
            <a:ext cx="3246120" cy="2484927"/>
          </a:xfrm>
          <a:prstGeom prst="rect">
            <a:avLst/>
          </a:prstGeom>
        </p:spPr>
      </p:pic>
      <p:sp>
        <p:nvSpPr>
          <p:cNvPr id="5" name="Текстовое поле 5"/>
          <p:cNvSpPr txBox="1"/>
          <p:nvPr/>
        </p:nvSpPr>
        <p:spPr>
          <a:xfrm>
            <a:off x="612648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Кабель: CH1 через тройник на начале линии, CH2 на конце</a:t>
            </a:r>
            <a:endParaRPr lang="en-US" sz="1200" dirty="0"/>
          </a:p>
        </p:txBody>
      </p:sp>
      <p:pic>
        <p:nvPicPr>
          <p:cNvPr id="6" name="Рисунок 6" descr="C:\Users\486B~1\AppData\Local\Temp\pres373\scheme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051560"/>
            <a:ext cx="4206240" cy="2506373"/>
          </a:xfrm>
          <a:prstGeom prst="rect">
            <a:avLst/>
          </a:prstGeom>
        </p:spPr>
      </p:pic>
      <p:sp>
        <p:nvSpPr>
          <p:cNvPr id="7" name="Текстовое поле 7"/>
          <p:cNvSpPr txBox="1"/>
          <p:nvPr/>
        </p:nvSpPr>
        <p:spPr>
          <a:xfrm>
            <a:off x="4206240" y="3611880"/>
            <a:ext cx="4206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10 звеньев L = 1,5 мГн, C = 47 нФ (схемы из описания)</a:t>
            </a:r>
            <a:endParaRPr lang="en-US" sz="1200" dirty="0"/>
          </a:p>
        </p:txBody>
      </p:sp>
      <p:sp>
        <p:nvSpPr>
          <p:cNvPr id="8" name="Текстовое поле 8"/>
          <p:cNvSpPr txBox="1"/>
          <p:nvPr/>
        </p:nvSpPr>
        <p:spPr>
          <a:xfrm>
            <a:off x="8732520" y="1051560"/>
            <a:ext cx="2852928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на конце задаётся входом CH2: 50 Ом (согласованная линия) или 1 МОм (разомкнутая).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CH2 в меню стоял множитель щупа ×10 (по описанию 1X), поэтому Vpp CH2 делим на 10.</a:t>
            </a:r>
            <a:endParaRPr lang="en-US" sz="1400" dirty="0"/>
          </a:p>
        </p:txBody>
      </p:sp>
      <p:sp>
        <p:nvSpPr>
          <p:cNvPr id="9" name="Текстовое поле 9"/>
          <p:cNvSpPr txBox="1"/>
          <p:nvPr/>
        </p:nvSpPr>
        <p:spPr>
          <a:xfrm>
            <a:off x="612648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Формулы, по которым ведётся обработка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Текстовое поле 110"/>
              <p:cNvSpPr txBox="1">
                <a:spLocks/>
              </p:cNvSpPr>
              <p:nvPr/>
            </p:nvSpPr>
            <p:spPr>
              <a:xfrm>
                <a:off x="612648" y="4526280"/>
                <a:ext cx="8951116" cy="5349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15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15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𝜔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15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𝑘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ru-RU" sz="1500" i="0">
                                  <a:latin typeface="Cambria" panose="02040503050406030204" pitchFamily="18" charset="0"/>
                                  <a:cs typeface="Cambria" panose="02040503050406030204" pitchFamily="18" charset="0"/>
                                </a:rPr>
                                <m:t>ф</m:t>
                              </m:r>
                            </m:sub>
                          </m:sSub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</m:t>
                      </m:r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500" i="0">
                              <a:latin typeface="Cambria" panose="02040503050406030204" pitchFamily="18" charset="0"/>
                              <a:cs typeface="Cambria" panose="02040503050406030204" pitchFamily="18" charset="0"/>
                            </a:rPr>
                            <m:t>ф</m:t>
                          </m:r>
                        </m:sub>
                      </m:sSub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𝛼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m:rPr>
                          <m:sty m:val="p"/>
                        </m:rP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ln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ru-RU" sz="1500" i="0">
                                  <a:latin typeface="Cambria" panose="02040503050406030204" pitchFamily="18" charset="0"/>
                                  <a:cs typeface="Cambria" panose="02040503050406030204" pitchFamily="18" charset="0"/>
                                </a:rPr>
                                <m:t>н</m:t>
                              </m:r>
                            </m:sub>
                          </m:sSub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𝑘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𝛥𝜑</m:t>
                          </m:r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</m:t>
                      </m:r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ru-RU" sz="1500"/>
              </a:p>
            </p:txBody>
          </p:sp>
        </mc:Choice>
        <mc:Fallback xmlns="">
          <p:pic>
            <p:nvPicPr>
              <p:cNvPr id="10" name="Рисунок 10" descr="C:\Users\486B~1\AppData\Local\Temp\pres373\f\wav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648" y="4526280"/>
                <a:ext cx="4992624" cy="527792"/>
              </a:xfrm>
              <a:prstGeom prst="rect">
                <a:avLst/>
              </a:prstGeom>
            </p:spPr>
          </p:pic>
          <p:pic>
            <p:nvPicPr>
              <p:cNvPr id="11" name="Рисунок 11" descr="C:\Users\486B~1\AppData\Local\Temp\pres373\f\meas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63640" y="4526280"/>
                <a:ext cx="3300124" cy="534924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Текстовое поле 12"/>
          <p:cNvSpPr txBox="1"/>
          <p:nvPr/>
        </p:nvSpPr>
        <p:spPr>
          <a:xfrm>
            <a:off x="612648" y="5212080"/>
            <a:ext cx="109728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координата вдоль линии; α: коэффициент затухания; k: волновое число; ω = 2πν; V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фазовая скорость; L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погонные индуктивность и ёмкость; Z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волновое сопротивление; U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амплитуды в начале и на конце согласованной линии; Δφ: набег фазы на длине l.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R = Z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конце отражённой волны нет; при любом другом R она появляется.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2"/>
          <p:cNvSpPr txBox="1"/>
          <p:nvPr/>
        </p:nvSpPr>
        <p:spPr>
          <a:xfrm>
            <a:off x="612648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Резонансные частоты кабеля и фазовая скорость</a:t>
            </a:r>
            <a:endParaRPr lang="en-US" sz="2400" dirty="0"/>
          </a:p>
        </p:txBody>
      </p:sp>
      <p:sp>
        <p:nvSpPr>
          <p:cNvPr id="3" name="Текстовое поле 3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4" name="Рисунок 4" descr="C:\Users\Данил\zxc\labs\2 курс\3.7.3\обработка\cable_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005840"/>
            <a:ext cx="4746550" cy="3618657"/>
          </a:xfrm>
          <a:prstGeom prst="rect">
            <a:avLst/>
          </a:prstGeom>
        </p:spPr>
      </p:pic>
      <p:sp>
        <p:nvSpPr>
          <p:cNvPr id="5" name="Текстовое поле 5"/>
          <p:cNvSpPr txBox="1"/>
          <p:nvPr/>
        </p:nvSpPr>
        <p:spPr>
          <a:xfrm>
            <a:off x="5760720" y="1005840"/>
            <a:ext cx="58247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набора частот: синус с согласованной нагрузкой 50 Ом, синус без нагрузки (вход CH2 1 МОм) и прямоугольные импульсы. У импульсов частоты при 50 Ом и при 1 МОм совпали, поэтому это один набор.</a:t>
            </a:r>
            <a:endParaRPr lang="en-US" sz="1300" dirty="0"/>
          </a:p>
        </p:txBody>
      </p:sp>
      <p:sp>
        <p:nvSpPr>
          <p:cNvPr id="6" name="Текстовое поле 6"/>
          <p:cNvSpPr txBox="1"/>
          <p:nvPr/>
        </p:nvSpPr>
        <p:spPr>
          <a:xfrm>
            <a:off x="57607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МГц</a:t>
            </a:r>
            <a:endParaRPr lang="en-US" sz="1200" dirty="0"/>
          </a:p>
        </p:txBody>
      </p:sp>
      <p:graphicFrame>
        <p:nvGraphicFramePr>
          <p:cNvPr id="7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194560"/>
          <a:ext cx="5769864" cy="102412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синус, 50 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синус, 1 МОм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импульсы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Текстовое поле 108"/>
              <p:cNvSpPr txBox="1">
                <a:spLocks/>
              </p:cNvSpPr>
              <p:nvPr/>
            </p:nvSpPr>
            <p:spPr>
              <a:xfrm>
                <a:off x="5760720" y="3429000"/>
                <a:ext cx="2469291" cy="484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𝑚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 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ru-RU" sz="1500" i="0">
                                  <a:latin typeface="Cambria" panose="02040503050406030204" pitchFamily="18" charset="0"/>
                                  <a:cs typeface="Cambria" panose="02040503050406030204" pitchFamily="18" charset="0"/>
                                </a:rPr>
                                <m:t>ф</m:t>
                              </m:r>
                            </m:sub>
                          </m:sSub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⇒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</m:t>
                      </m:r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500" i="0">
                              <a:latin typeface="Cambria" panose="02040503050406030204" pitchFamily="18" charset="0"/>
                              <a:cs typeface="Cambria" panose="02040503050406030204" pitchFamily="18" charset="0"/>
                            </a:rPr>
                            <m:t>ф</m:t>
                          </m:r>
                        </m:sub>
                      </m:sSub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𝑙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 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𝛥𝜈</m:t>
                      </m:r>
                    </m:oMath>
                  </m:oMathPara>
                </a14:m>
                <a:endParaRPr lang="ru-RU" sz="1500"/>
              </a:p>
            </p:txBody>
          </p:sp>
        </mc:Choice>
        <mc:Fallback xmlns="">
          <p:pic>
            <p:nvPicPr>
              <p:cNvPr id="8" name="Рисунок 8" descr="C:\Users\486B~1\AppData\Local\Temp\pres373\f\vres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0720" y="3429000"/>
                <a:ext cx="2469291" cy="484221"/>
              </a:xfrm>
              <a:prstGeom prst="rect">
                <a:avLst/>
              </a:prstGeom>
            </p:spPr>
          </p:pic>
        </mc:Fallback>
      </mc:AlternateContent>
      <p:sp>
        <p:nvSpPr>
          <p:cNvPr id="9" name="Текстовое поле 9"/>
          <p:cNvSpPr txBox="1"/>
          <p:nvPr/>
        </p:nvSpPr>
        <p:spPr>
          <a:xfrm>
            <a:off x="5760720" y="4023360"/>
            <a:ext cx="5824728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МНК по синусу на 50 Ом: Δν = 3,986 ± 0,002 МГц, свободный член −0,05 ± 0,01 МГц, это 1 % от Δν.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4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</a:t>
            </a: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(2,014 ± 0,008)·10</a:t>
            </a:r>
            <a:r>
              <a:rPr lang="en-US" sz="1400" b="1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м/с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всех трёх наборов шаг одинаковый. Скорость не зависит ни от частоты, ни от нагрузки, значит дисперсии нет.</a:t>
            </a:r>
            <a:endParaRPr lang="en-US" sz="1400" dirty="0"/>
          </a:p>
        </p:txBody>
      </p:sp>
      <p:sp>
        <p:nvSpPr>
          <p:cNvPr id="10" name="Прямоугольник 10"/>
          <p:cNvSpPr/>
          <p:nvPr/>
        </p:nvSpPr>
        <p:spPr>
          <a:xfrm>
            <a:off x="612648" y="5486400"/>
            <a:ext cx="10972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1" name="Текстовое поле 11"/>
          <p:cNvSpPr txBox="1"/>
          <p:nvPr/>
        </p:nvSpPr>
        <p:spPr>
          <a:xfrm>
            <a:off x="722376" y="5541264"/>
            <a:ext cx="1075334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мерили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Меняли частоту генератора, пока максимумы на входе (CH1) и на конце (CH2) не совпадут. Для импульсов ждали совпадения самих импульсов.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2"/>
          <p:cNvSpPr txBox="1"/>
          <p:nvPr/>
        </p:nvSpPr>
        <p:spPr>
          <a:xfrm>
            <a:off x="612648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ФЧХ кабеля и время пробега τ</a:t>
            </a:r>
            <a:endParaRPr lang="en-US" sz="2400" dirty="0"/>
          </a:p>
        </p:txBody>
      </p:sp>
      <p:sp>
        <p:nvSpPr>
          <p:cNvPr id="3" name="Текстовое поле 3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4" name="Рисунок 4" descr="C:\Users\Данил\zxc\labs\2 курс\3.7.3\обработка\cable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005840"/>
            <a:ext cx="4720441" cy="3618657"/>
          </a:xfrm>
          <a:prstGeom prst="rect">
            <a:avLst/>
          </a:prstGeom>
        </p:spPr>
      </p:pic>
      <p:sp>
        <p:nvSpPr>
          <p:cNvPr id="5" name="Текстовое поле 5"/>
          <p:cNvSpPr txBox="1"/>
          <p:nvPr/>
        </p:nvSpPr>
        <p:spPr>
          <a:xfrm>
            <a:off x="5760720" y="1005840"/>
            <a:ext cx="582472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это время, за которое сигнал проходит кабель. Курсор показывает сдвиг Δx только внутри одного периода, поэтому к нему добавляем целое число периодов n: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Текстовое поле 106"/>
              <p:cNvSpPr txBox="1">
                <a:spLocks/>
              </p:cNvSpPr>
              <p:nvPr/>
            </p:nvSpPr>
            <p:spPr>
              <a:xfrm>
                <a:off x="5760720" y="1691640"/>
                <a:ext cx="3828044" cy="45354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𝜏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15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𝛥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𝑛𝑇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𝑇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𝜈</m:t>
                          </m:r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𝛥𝜑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2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𝜋𝜈𝜏</m:t>
                      </m:r>
                    </m:oMath>
                  </m:oMathPara>
                </a14:m>
                <a:endParaRPr lang="ru-RU" sz="1500" dirty="0"/>
              </a:p>
            </p:txBody>
          </p:sp>
        </mc:Choice>
        <mc:Fallback xmlns="">
          <p:pic>
            <p:nvPicPr>
              <p:cNvPr id="6" name="Рисунок 6" descr="C:\Users\486B~1\AppData\Local\Temp\pres373\f\tau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0720" y="1691640"/>
                <a:ext cx="3828044" cy="453542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7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286000"/>
          <a:ext cx="5669280" cy="1234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ν, МГц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Δx, нс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− Δx, нс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τ, нс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Текстовое поле 8"/>
          <p:cNvSpPr txBox="1"/>
          <p:nvPr/>
        </p:nvSpPr>
        <p:spPr>
          <a:xfrm>
            <a:off x="5760720" y="3611880"/>
            <a:ext cx="582472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 = 251,4 ± 0,2 нс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всех частотах, набег фазы растёт пропорционально частоте. По резонансам τ = 1/Δν = 250,9 нс, отличие 0,2 %.</a:t>
            </a:r>
            <a:endParaRPr lang="en-US" sz="1400" dirty="0"/>
          </a:p>
        </p:txBody>
      </p:sp>
      <p:sp>
        <p:nvSpPr>
          <p:cNvPr id="9" name="Прямоугольник 9"/>
          <p:cNvSpPr/>
          <p:nvPr/>
        </p:nvSpPr>
        <p:spPr>
          <a:xfrm>
            <a:off x="612648" y="5486400"/>
            <a:ext cx="10972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0" name="Текстовое поле 10"/>
          <p:cNvSpPr txBox="1"/>
          <p:nvPr/>
        </p:nvSpPr>
        <p:spPr>
          <a:xfrm>
            <a:off x="722376" y="5541264"/>
            <a:ext cx="1075334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мерили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Согласованная линия, 1–30 МГц, скрины 1_1–7_1. Курсор времени от максимума на конце до следующего максимума на входе.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2"/>
          <p:cNvSpPr txBox="1"/>
          <p:nvPr/>
        </p:nvSpPr>
        <p:spPr>
          <a:xfrm>
            <a:off x="612648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Импульсы: групповая скорость и форма сигнала</a:t>
            </a:r>
            <a:endParaRPr lang="en-US" sz="2400" dirty="0"/>
          </a:p>
        </p:txBody>
      </p:sp>
      <p:sp>
        <p:nvSpPr>
          <p:cNvPr id="3" name="Текстовое поле 3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4" name="Рисунок 4" descr="C:\Users\486B~1\AppData\Local\Temp\pres373\rect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005840"/>
            <a:ext cx="3291840" cy="2468880"/>
          </a:xfrm>
          <a:prstGeom prst="rect">
            <a:avLst/>
          </a:prstGeom>
        </p:spPr>
      </p:pic>
      <p:sp>
        <p:nvSpPr>
          <p:cNvPr id="5" name="Текстовое поле 5"/>
          <p:cNvSpPr txBox="1"/>
          <p:nvPr/>
        </p:nvSpPr>
        <p:spPr>
          <a:xfrm>
            <a:off x="612648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rect_7: 2 МГц, импульс 300 нс, задержка Δx = 250 нс</a:t>
            </a:r>
            <a:endParaRPr lang="en-US" sz="1200" dirty="0"/>
          </a:p>
        </p:txBody>
      </p:sp>
      <p:pic>
        <p:nvPicPr>
          <p:cNvPr id="6" name="Рисунок 6" descr="C:\Users\486B~1\AppData\Local\Temp\pres373\rect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005840"/>
            <a:ext cx="3291840" cy="2468880"/>
          </a:xfrm>
          <a:prstGeom prst="rect">
            <a:avLst/>
          </a:prstGeom>
        </p:spPr>
      </p:pic>
      <p:sp>
        <p:nvSpPr>
          <p:cNvPr id="7" name="Текстовое поле 7"/>
          <p:cNvSpPr txBox="1"/>
          <p:nvPr/>
        </p:nvSpPr>
        <p:spPr>
          <a:xfrm>
            <a:off x="4069080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rect_5: 30 МГц, импульс 10 нс</a:t>
            </a:r>
            <a:endParaRPr lang="en-US" sz="1200" dirty="0"/>
          </a:p>
        </p:txBody>
      </p:sp>
      <p:graphicFrame>
        <p:nvGraphicFramePr>
          <p:cNvPr id="8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563343"/>
              </p:ext>
            </p:extLst>
          </p:nvPr>
        </p:nvGraphicFramePr>
        <p:xfrm>
          <a:off x="612648" y="3931920"/>
          <a:ext cx="6894576" cy="1554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4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2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скрин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rect_1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rect_2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rect_3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rect_4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rect_5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rect_6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rect_7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rect_8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</a:t>
                      </a:r>
                      <a:r>
                        <a:rPr lang="en-US" sz="12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повт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МГц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</a:t>
                      </a:r>
                      <a:r>
                        <a:rPr lang="en-US" sz="12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нс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r>
                        <a:rPr lang="en-US" sz="12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вх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r>
                        <a:rPr lang="en-US" sz="12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r>
                        <a:rPr lang="en-US" sz="12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</a:t>
                      </a:r>
                      <a:r>
                        <a:rPr lang="en-US" sz="12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Прямоугольник 9"/>
          <p:cNvSpPr/>
          <p:nvPr/>
        </p:nvSpPr>
        <p:spPr>
          <a:xfrm>
            <a:off x="7680960" y="1005840"/>
            <a:ext cx="390448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0" name="Текстовое поле 10"/>
          <p:cNvSpPr txBox="1"/>
          <p:nvPr/>
        </p:nvSpPr>
        <p:spPr>
          <a:xfrm>
            <a:off x="7790688" y="1060704"/>
            <a:ext cx="3685032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мерили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Импульсы 10–490 нс, фронт 4 нс, CH2 на 50 Ом. Задержка: курсоры на фронтах. Амплитуды: курсоры на вершинах.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Текстовое поле 111"/>
              <p:cNvSpPr txBox="1">
                <a:spLocks/>
              </p:cNvSpPr>
              <p:nvPr/>
            </p:nvSpPr>
            <p:spPr>
              <a:xfrm>
                <a:off x="7680960" y="1965960"/>
                <a:ext cx="2995574" cy="564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500" i="0">
                              <a:latin typeface="Cambria" panose="02040503050406030204" pitchFamily="18" charset="0"/>
                              <a:cs typeface="Cambria" panose="02040503050406030204" pitchFamily="18" charset="0"/>
                            </a:rPr>
                            <m:t>гр</m:t>
                          </m:r>
                        </m:sub>
                      </m:sSub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ru-RU" sz="1500" i="0">
                                  <a:latin typeface="Cambria" panose="02040503050406030204" pitchFamily="18" charset="0"/>
                                  <a:cs typeface="Cambria" panose="02040503050406030204" pitchFamily="18" charset="0"/>
                                </a:rPr>
                                <m:t>гр</m:t>
                              </m:r>
                            </m:sub>
                          </m:sSub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𝛿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1500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500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𝛿</m:t>
                                      </m:r>
                                      <m:r>
                                        <a:rPr lang="ru-RU" sz="1500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𝑙</m:t>
                                      </m:r>
                                    </m:num>
                                    <m:den>
                                      <m:r>
                                        <a:rPr lang="ru-RU" sz="1500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15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1500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500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𝛿𝜏</m:t>
                                      </m:r>
                                    </m:num>
                                    <m:den>
                                      <m:r>
                                        <a:rPr lang="ru-RU" sz="1500" i="1"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500"/>
              </a:p>
            </p:txBody>
          </p:sp>
        </mc:Choice>
        <mc:Fallback xmlns="">
          <p:pic>
            <p:nvPicPr>
              <p:cNvPr id="11" name="Рисунок 11" descr="C:\Users\486B~1\AppData\Local\Temp\pres373\f\vgr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80960" y="1965960"/>
                <a:ext cx="2995574" cy="564221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Текстовое поле 12"/>
          <p:cNvSpPr txBox="1"/>
          <p:nvPr/>
        </p:nvSpPr>
        <p:spPr>
          <a:xfrm>
            <a:off x="7680960" y="2606040"/>
            <a:ext cx="390448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250 ± 4 нс (шаг курсора 2 нс, установка на фронт ±4 нс).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3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(2,02 ± 0,03)·10</a:t>
            </a:r>
            <a:r>
              <a:rPr lang="en-US" sz="1300" b="1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м/с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совпадает с V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Импульсы совпадают на 4, 8, 12, 16, 20 МГц, шаг тот же.</a:t>
            </a:r>
            <a:endParaRPr lang="en-US" sz="1300" dirty="0"/>
          </a:p>
        </p:txBody>
      </p:sp>
      <p:sp>
        <p:nvSpPr>
          <p:cNvPr id="13" name="Текстовое поле 13"/>
          <p:cNvSpPr txBox="1"/>
          <p:nvPr/>
        </p:nvSpPr>
        <p:spPr>
          <a:xfrm>
            <a:off x="612648" y="5669280"/>
            <a:ext cx="109728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Колебания на жёлтом после спада.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Похоже на эффект Гиббса. Осциллограф пропускает частоты до 100 МГц, а во фронте 4 нс есть гармоники выше. Если у резкой ступеньки отрезать верх спектра, появляются выброс и затухающая рябь.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2"/>
          <p:cNvSpPr txBox="1"/>
          <p:nvPr/>
        </p:nvSpPr>
        <p:spPr>
          <a:xfrm>
            <a:off x="612648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Погонные параметры кабеля (часть I)</a:t>
            </a:r>
            <a:endParaRPr lang="en-US" sz="2400" dirty="0"/>
          </a:p>
        </p:txBody>
      </p:sp>
      <p:sp>
        <p:nvSpPr>
          <p:cNvPr id="3" name="Текстовое поле 3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4" name="Рисунок 4" descr="C:\Users\Данил\zxc\labs\2 курс\3.7.3\обработка\cable_y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005840"/>
            <a:ext cx="4023360" cy="30405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Текстовое поле 105"/>
              <p:cNvSpPr txBox="1">
                <a:spLocks/>
              </p:cNvSpPr>
              <p:nvPr/>
            </p:nvSpPr>
            <p:spPr>
              <a:xfrm>
                <a:off x="4937760" y="1005840"/>
                <a:ext cx="4233306" cy="48280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𝛼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m:rPr>
                          <m:sty m:val="p"/>
                        </m:rP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ln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ru-RU" sz="1500" i="0">
                                  <a:latin typeface="Cambria" panose="02040503050406030204" pitchFamily="18" charset="0"/>
                                  <a:cs typeface="Cambria" panose="02040503050406030204" pitchFamily="18" charset="0"/>
                                </a:rPr>
                                <m:t>н</m:t>
                              </m:r>
                            </m:sub>
                          </m:sSub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𝑘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𝜋𝜈𝜏</m:t>
                          </m:r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</m:t>
                      </m:r>
                      <m:sSup>
                        <m:sSup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500"/>
              </a:p>
            </p:txBody>
          </p:sp>
        </mc:Choice>
        <mc:Fallback xmlns="">
          <p:pic>
            <p:nvPicPr>
              <p:cNvPr id="5" name="Рисунок 5" descr="C:\Users\486B~1\AppData\Local\Temp\pres373\f\ak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7760" y="1005840"/>
                <a:ext cx="4233306" cy="482803"/>
              </a:xfrm>
              <a:prstGeom prst="rect">
                <a:avLst/>
              </a:prstGeom>
            </p:spPr>
          </p:pic>
        </mc:Fallback>
      </mc:AlternateContent>
      <p:sp>
        <p:nvSpPr>
          <p:cNvPr id="6" name="Текстовое поле 6"/>
          <p:cNvSpPr txBox="1"/>
          <p:nvPr/>
        </p:nvSpPr>
        <p:spPr>
          <a:xfrm>
            <a:off x="4937760" y="1554480"/>
            <a:ext cx="664768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Наклон прямой L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(2,475 ± 0,001)·10</a:t>
            </a:r>
            <a:r>
              <a:rPr lang="en-US" sz="13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</a:t>
            </a:r>
            <a:r>
              <a:rPr lang="en-US" sz="13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/м</a:t>
            </a:r>
            <a:r>
              <a:rPr lang="en-US" sz="13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свободный член (3 ± 2)·10</a:t>
            </a:r>
            <a:r>
              <a:rPr lang="en-US" sz="13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</a:t>
            </a:r>
            <a:r>
              <a:rPr lang="en-US" sz="13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 пределах погрешности ноль.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Текстовое поле 107"/>
              <p:cNvSpPr txBox="1">
                <a:spLocks/>
              </p:cNvSpPr>
              <p:nvPr/>
            </p:nvSpPr>
            <p:spPr>
              <a:xfrm>
                <a:off x="4937760" y="2057400"/>
                <a:ext cx="4423501" cy="50694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ru-RU" sz="1500" i="0">
                                  <a:latin typeface="Cambria" panose="02040503050406030204" pitchFamily="18" charset="0"/>
                                  <a:cs typeface="Cambria" panose="02040503050406030204" pitchFamily="18" charset="0"/>
                                </a:rPr>
                                <m:t>ф</m:t>
                              </m:r>
                            </m:sub>
                          </m:sSub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249 </m:t>
                      </m:r>
                      <m:r>
                        <m:rPr>
                          <m:nor/>
                        </m:rPr>
                        <a:rPr lang="ru-RU" sz="1500" i="0">
                          <a:latin typeface="Cambria" panose="02040503050406030204" pitchFamily="18" charset="0"/>
                          <a:cs typeface="Cambria" panose="02040503050406030204" pitchFamily="18" charset="0"/>
                        </a:rPr>
                        <m:t>нГн/м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</m:t>
                      </m:r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ru-RU" sz="1500" i="0">
                                  <a:latin typeface="Cambria" panose="02040503050406030204" pitchFamily="18" charset="0"/>
                                  <a:cs typeface="Cambria" panose="02040503050406030204" pitchFamily="18" charset="0"/>
                                </a:rPr>
                                <m:t>ф</m:t>
                              </m:r>
                            </m:sub>
                          </m:sSub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99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5 </m:t>
                      </m:r>
                      <m:r>
                        <m:rPr>
                          <m:nor/>
                        </m:rPr>
                        <a:rPr lang="ru-RU" sz="1500" i="0">
                          <a:latin typeface="Cambria" panose="02040503050406030204" pitchFamily="18" charset="0"/>
                          <a:cs typeface="Cambria" panose="02040503050406030204" pitchFamily="18" charset="0"/>
                        </a:rPr>
                        <m:t>пФ/м</m:t>
                      </m:r>
                    </m:oMath>
                  </m:oMathPara>
                </a14:m>
                <a:endParaRPr lang="ru-RU" sz="1500"/>
              </a:p>
            </p:txBody>
          </p:sp>
        </mc:Choice>
        <mc:Fallback xmlns="">
          <p:pic>
            <p:nvPicPr>
              <p:cNvPr id="7" name="Рисунок 7" descr="C:\Users\486B~1\AppData\Local\Temp\pres373\f\lc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37760" y="2057400"/>
                <a:ext cx="4423501" cy="50694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Текстовое поле 8"/>
          <p:cNvSpPr txBox="1"/>
          <p:nvPr/>
        </p:nvSpPr>
        <p:spPr>
          <a:xfrm>
            <a:off x="4937760" y="2606040"/>
            <a:ext cx="664768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формулы в СИ. Z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50 Ом по маркировке, V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1/√(L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 = (2,010 ± 0,008)·10</a:t>
            </a:r>
            <a:r>
              <a:rPr lang="en-US" sz="13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м/с.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Текстовое поле 109"/>
              <p:cNvSpPr txBox="1">
                <a:spLocks/>
              </p:cNvSpPr>
              <p:nvPr/>
            </p:nvSpPr>
            <p:spPr>
              <a:xfrm>
                <a:off x="4937760" y="3108960"/>
                <a:ext cx="4135283" cy="4996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𝜀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ru-RU" sz="15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ru-RU" sz="1500" i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2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17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𝜇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ru-RU" sz="15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ru-RU" sz="1500" i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03</m:t>
                      </m:r>
                    </m:oMath>
                  </m:oMathPara>
                </a14:m>
                <a:endParaRPr lang="ru-RU" sz="1500"/>
              </a:p>
            </p:txBody>
          </p:sp>
        </mc:Choice>
        <mc:Fallback xmlns="">
          <p:pic>
            <p:nvPicPr>
              <p:cNvPr id="9" name="Рисунок 9" descr="C:\Users\486B~1\AppData\Local\Temp\pres373\f\eps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37760" y="3108960"/>
                <a:ext cx="4135283" cy="499628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Текстовое поле 10"/>
          <p:cNvSpPr txBox="1"/>
          <p:nvPr/>
        </p:nvSpPr>
        <p:spPr>
          <a:xfrm>
            <a:off x="4937760" y="3657600"/>
            <a:ext cx="6647688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формулы (2) и (4) описания в СИ, D = 4,6 мм, d = 1,37 мм. Для полиэтилена (ε = 2,25, μ = 1) они дают L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242 нГн/м и C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103 пФ/м, у нас отличие 3–4 %.</a:t>
            </a:r>
            <a:endParaRPr lang="en-US" sz="1300" dirty="0"/>
          </a:p>
        </p:txBody>
      </p:sp>
      <p:graphicFrame>
        <p:nvGraphicFramePr>
          <p:cNvPr id="11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4297680"/>
          <a:ext cx="10927080" cy="1188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ν, МГц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r>
                        <a:rPr lang="en-US" sz="12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r>
                        <a:rPr lang="en-US" sz="12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α, 10</a:t>
                      </a:r>
                      <a:r>
                        <a:rPr lang="en-US" sz="1200" b="1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м</a:t>
                      </a:r>
                      <a:r>
                        <a:rPr lang="en-US" sz="1200" b="1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k, м</a:t>
                      </a:r>
                      <a:r>
                        <a:rPr lang="en-US" sz="1200" b="1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0,3134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Прямоугольник 12"/>
          <p:cNvSpPr/>
          <p:nvPr/>
        </p:nvSpPr>
        <p:spPr>
          <a:xfrm>
            <a:off x="612648" y="5577840"/>
            <a:ext cx="10972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3" name="Текстовое поле 13"/>
          <p:cNvSpPr txBox="1"/>
          <p:nvPr/>
        </p:nvSpPr>
        <p:spPr>
          <a:xfrm>
            <a:off x="722376" y="5632704"/>
            <a:ext cx="1075334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мерили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Vpp на входе и на конце согласованной линии (Vpp CH2 / 10). k из τ по ФЧХ, на частотах синфазности k = 2πm/l.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2"/>
          <p:cNvSpPr txBox="1"/>
          <p:nvPr/>
        </p:nvSpPr>
        <p:spPr>
          <a:xfrm>
            <a:off x="612648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Затухание и проводимость жилы (часть II)</a:t>
            </a:r>
            <a:endParaRPr lang="en-US" sz="2400" dirty="0"/>
          </a:p>
        </p:txBody>
      </p:sp>
      <p:sp>
        <p:nvSpPr>
          <p:cNvPr id="3" name="Текстовое поле 3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4" name="Рисунок 4" descr="C:\Users\Данил\zxc\labs\2 курс\3.7.3\обработка\cable_alp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005840"/>
            <a:ext cx="3749039" cy="2909389"/>
          </a:xfrm>
          <a:prstGeom prst="rect">
            <a:avLst/>
          </a:prstGeom>
        </p:spPr>
      </p:pic>
      <p:pic>
        <p:nvPicPr>
          <p:cNvPr id="5" name="Рисунок 5" descr="C:\Users\Данил\zxc\labs\2 курс\3.7.3\обработка\cable_metho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005840"/>
            <a:ext cx="3749039" cy="2909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Текстовое поле 106"/>
              <p:cNvSpPr txBox="1">
                <a:spLocks/>
              </p:cNvSpPr>
              <p:nvPr/>
            </p:nvSpPr>
            <p:spPr>
              <a:xfrm>
                <a:off x="612648" y="4041648"/>
                <a:ext cx="6022878" cy="5280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𝛼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</m:t>
                      </m:r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𝜋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𝑑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 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𝜎𝛿</m:t>
                          </m:r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𝛿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𝜎𝜔</m:t>
                              </m:r>
                            </m:den>
                          </m:f>
                        </m:e>
                      </m:rad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  2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𝛼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𝑘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3</m:t>
                          </m:r>
                          <m:r>
                            <a:rPr lang="ru-RU" sz="15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/</m:t>
                          </m:r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500"/>
              </a:p>
            </p:txBody>
          </p:sp>
        </mc:Choice>
        <mc:Fallback xmlns="">
          <p:pic>
            <p:nvPicPr>
              <p:cNvPr id="6" name="Рисунок 6" descr="C:\Users\486B~1\AppData\Local\Temp\pres373\f\alpha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2648" y="4041648"/>
                <a:ext cx="3494991" cy="528066"/>
              </a:xfrm>
              <a:prstGeom prst="rect">
                <a:avLst/>
              </a:prstGeom>
            </p:spPr>
          </p:pic>
          <p:pic>
            <p:nvPicPr>
              <p:cNvPr id="7" name="Рисунок 7" descr="C:\Users\486B~1\AppData\Local\Temp\pres373\f\methB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26280" y="4160520"/>
                <a:ext cx="2109246" cy="290505"/>
              </a:xfrm>
              <a:prstGeom prst="rect">
                <a:avLst/>
              </a:prstGeom>
            </p:spPr>
          </p:pic>
        </mc:Fallback>
      </mc:AlternateContent>
      <p:sp>
        <p:nvSpPr>
          <p:cNvPr id="8" name="Текстовое поле 8"/>
          <p:cNvSpPr txBox="1"/>
          <p:nvPr/>
        </p:nvSpPr>
        <p:spPr>
          <a:xfrm>
            <a:off x="612648" y="4663440"/>
            <a:ext cx="7680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Скин-эффект: переменный ток вытесняется к поверхности жилы и течёт в слое толщиной δ (65 мкм на 1 МГц, 12 мкм на 30 МГц). Поэтому R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растёт как √ω, и затухание тоже. d = 1,37 мм, μ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4π·10</a:t>
            </a:r>
            <a:r>
              <a:rPr lang="en-US" sz="12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Гн/м.</a:t>
            </a:r>
            <a:endParaRPr lang="en-US" sz="1200" dirty="0"/>
          </a:p>
        </p:txBody>
      </p:sp>
      <p:sp>
        <p:nvSpPr>
          <p:cNvPr id="9" name="Прямоугольник 9"/>
          <p:cNvSpPr/>
          <p:nvPr/>
        </p:nvSpPr>
        <p:spPr>
          <a:xfrm>
            <a:off x="612648" y="5532120"/>
            <a:ext cx="76809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0" name="Текстовое поле 10"/>
          <p:cNvSpPr txBox="1"/>
          <p:nvPr/>
        </p:nvSpPr>
        <p:spPr>
          <a:xfrm>
            <a:off x="722376" y="5586984"/>
            <a:ext cx="7461504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мерили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и k из таблицы на слайде 7. Методы А и Б используют одни и те же амплитуды, поэтому они не независимы.</a:t>
            </a:r>
            <a:endParaRPr lang="en-US" sz="1200" dirty="0"/>
          </a:p>
        </p:txBody>
      </p:sp>
      <p:sp>
        <p:nvSpPr>
          <p:cNvPr id="11" name="Текстовое поле 11"/>
          <p:cNvSpPr txBox="1"/>
          <p:nvPr/>
        </p:nvSpPr>
        <p:spPr>
          <a:xfrm>
            <a:off x="8503920" y="1005840"/>
            <a:ext cx="30815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в таблице слайда 7 от 2,2·10</a:t>
            </a:r>
            <a:r>
              <a:rPr lang="en-US" sz="13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 7,2·10</a:t>
            </a:r>
            <a:r>
              <a:rPr lang="en-US" sz="13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</a:t>
            </a:r>
            <a:r>
              <a:rPr lang="en-US" sz="13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 децибелах это 1,9–6,3 дБ/100 м: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Текстовое поле 112"/>
              <p:cNvSpPr txBox="1">
                <a:spLocks/>
              </p:cNvSpPr>
              <p:nvPr/>
            </p:nvSpPr>
            <p:spPr>
              <a:xfrm>
                <a:off x="8503920" y="1920240"/>
                <a:ext cx="2969514" cy="43205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𝛼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ru-RU" sz="1500" i="0">
                              <a:latin typeface="Cambria" panose="02040503050406030204" pitchFamily="18" charset="0"/>
                              <a:cs typeface="Cambria" panose="02040503050406030204" pitchFamily="18" charset="0"/>
                            </a:rPr>
                            <m:t>дБ/100 м</m:t>
                          </m:r>
                        </m:e>
                      </m:d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ru-RU" sz="15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lg</m:t>
                          </m:r>
                          <m:d>
                            <m:d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sz="1500" i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5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ru-RU" sz="1500" i="0">
                                      <a:latin typeface="Cambria" panose="02040503050406030204" pitchFamily="18" charset="0"/>
                                      <a:cs typeface="Cambria" panose="02040503050406030204" pitchFamily="18" charset="0"/>
                                    </a:rPr>
                                    <m:t>н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⋅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100 </m:t>
                      </m:r>
                      <m:r>
                        <m:rPr>
                          <m:nor/>
                        </m:rPr>
                        <a:rPr lang="ru-RU" sz="1500" i="0">
                          <a:latin typeface="Cambria" panose="02040503050406030204" pitchFamily="18" charset="0"/>
                          <a:cs typeface="Cambria" panose="02040503050406030204" pitchFamily="18" charset="0"/>
                        </a:rPr>
                        <m:t>м</m:t>
                      </m:r>
                    </m:oMath>
                  </m:oMathPara>
                </a14:m>
                <a:endParaRPr lang="ru-RU" sz="1500"/>
              </a:p>
            </p:txBody>
          </p:sp>
        </mc:Choice>
        <mc:Fallback xmlns="">
          <p:pic>
            <p:nvPicPr>
              <p:cNvPr id="12" name="Рисунок 12" descr="C:\Users\486B~1\AppData\Local\Temp\pres373\f\db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03920" y="1920240"/>
                <a:ext cx="2969514" cy="432054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Текстовое поле 13"/>
          <p:cNvSpPr txBox="1"/>
          <p:nvPr/>
        </p:nvSpPr>
        <p:spPr>
          <a:xfrm>
            <a:off x="8503920" y="2514600"/>
            <a:ext cx="3081528" cy="374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3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(5,6 ± 1,1)·10</a:t>
            </a:r>
            <a:r>
              <a:rPr lang="en-US" sz="1300" b="1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См/м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3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(4,9 ± 0,3)·10</a:t>
            </a:r>
            <a:r>
              <a:rPr lang="en-US" sz="1300" b="1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См/м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меди 5,9·10</a:t>
            </a:r>
            <a:r>
              <a:rPr lang="en-US" sz="13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См/м: σ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ней совпадает, σ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меньше на 17 %.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2"/>
          <p:cNvSpPr txBox="1"/>
          <p:nvPr/>
        </p:nvSpPr>
        <p:spPr>
          <a:xfrm>
            <a:off x="612648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линии: дисперсия и резонансы цепочки</a:t>
            </a:r>
            <a:endParaRPr lang="en-US" sz="2400" dirty="0"/>
          </a:p>
        </p:txBody>
      </p:sp>
      <p:sp>
        <p:nvSpPr>
          <p:cNvPr id="3" name="Текстовое поле 3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4" name="Рисунок 4" descr="C:\Users\Данил\zxc\labs\2 курс\3.7.3\обработка\model_disp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005840"/>
            <a:ext cx="3739003" cy="28822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Текстовое поле 106"/>
              <p:cNvSpPr txBox="1">
                <a:spLocks/>
              </p:cNvSpPr>
              <p:nvPr/>
            </p:nvSpPr>
            <p:spPr>
              <a:xfrm>
                <a:off x="612648" y="4069080"/>
                <a:ext cx="7616952" cy="5266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𝜃</m:t>
                      </m:r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𝐿𝐶</m:t>
                          </m:r>
                        </m:e>
                      </m:rad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</m:t>
                      </m:r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ru-RU" sz="15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  </m:t>
                      </m:r>
                      <m:sSub>
                        <m:sSubPr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5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sz="15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ru-RU" sz="15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ru-RU" sz="1500"/>
              </a:p>
            </p:txBody>
          </p:sp>
        </mc:Choice>
        <mc:Fallback xmlns="">
          <p:pic>
            <p:nvPicPr>
              <p:cNvPr id="6" name="Рисунок 6" descr="C:\Users\486B~1\AppData\Local\Temp\pres373\f\model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648" y="4069080"/>
                <a:ext cx="3335728" cy="526694"/>
              </a:xfrm>
              <a:prstGeom prst="rect">
                <a:avLst/>
              </a:prstGeom>
            </p:spPr>
          </p:pic>
        </mc:Fallback>
      </mc:AlternateContent>
      <p:sp>
        <p:nvSpPr>
          <p:cNvPr id="8" name="Текстовое поле 8"/>
          <p:cNvSpPr txBox="1"/>
          <p:nvPr/>
        </p:nvSpPr>
        <p:spPr>
          <a:xfrm>
            <a:off x="612648" y="4663440"/>
            <a:ext cx="76809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θ: сдвиг фазы на одном звене; ω = 2πν; ν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частота, выше которой волна по цепочке не проходит; R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нагрузка, при которой нет отражения; L, C: индуктивность и ёмкость звена.</a:t>
            </a:r>
            <a:endParaRPr lang="en-US" sz="1200" dirty="0"/>
          </a:p>
        </p:txBody>
      </p:sp>
      <p:sp>
        <p:nvSpPr>
          <p:cNvPr id="9" name="Прямоугольник 9"/>
          <p:cNvSpPr/>
          <p:nvPr/>
        </p:nvSpPr>
        <p:spPr>
          <a:xfrm>
            <a:off x="612648" y="5303520"/>
            <a:ext cx="7680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0" name="Текстовое поле 10"/>
          <p:cNvSpPr txBox="1"/>
          <p:nvPr/>
        </p:nvSpPr>
        <p:spPr>
          <a:xfrm>
            <a:off x="722376" y="5358384"/>
            <a:ext cx="7461504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мерили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магазине. Δx курсором от генератора до выходов 5 и 9, сдвиг на звено θ = 2πν(Δx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Δx</a:t>
            </a:r>
            <a:r>
              <a:rPr lang="en-US" sz="12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)/4 плюс целое число периодов (θ растёт с ν и не больше π). Резонансы при R = 0 и R → ∞ по максимуму на входе.</a:t>
            </a:r>
            <a:endParaRPr lang="en-US" sz="1200" dirty="0"/>
          </a:p>
        </p:txBody>
      </p:sp>
      <p:sp>
        <p:nvSpPr>
          <p:cNvPr id="11" name="Текстовое поле 11"/>
          <p:cNvSpPr txBox="1"/>
          <p:nvPr/>
        </p:nvSpPr>
        <p:spPr>
          <a:xfrm>
            <a:off x="8503920" y="1005840"/>
            <a:ext cx="3081528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</a:t>
            </a:r>
            <a:r>
              <a:rPr lang="en-US" sz="13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37,91 кГц, R</a:t>
            </a:r>
            <a:r>
              <a:rPr lang="en-US" sz="13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178,6 Ом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магазине подобрали 178,2 Ом: при нём размах на всех выходах почти одинаковый.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21 кГц точки в среднем идут по прямой θ = ω√(LC), как в кабеле (сильнее всего выпадает 7 кГц). Выше 25 кГц они уходят вверх от прямой и у ν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доходят до π. Скорость волны в цепочке зависит от частоты, это и есть дисперсия. В кабеле её не было.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Выше ν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волна по цепочке не проходит: на 38 кГц θ уже почти π, соседние звенья колеблются в противофазе.</a:t>
            </a:r>
            <a:endParaRPr lang="en-US" sz="1300" dirty="0"/>
          </a:p>
        </p:txBody>
      </p:sp>
      <p:sp>
        <p:nvSpPr>
          <p:cNvPr id="20" name="Текстовое поле 20"/>
          <p:cNvSpPr txBox="1"/>
          <p:nvPr/>
        </p:nvSpPr>
        <p:spPr>
          <a:xfrm>
            <a:off x="4526280" y="1005840"/>
            <a:ext cx="35661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Резонансы цепочки (п. 4)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 = 0: 2,89; 12,83; 21,89; 28,84; 35,03 кГц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→ ∞: 10,0; 19,1; 26,81; 33,53 кГц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Искали по максимуму сигнала на входе от 2 кГц до ν</a:t>
            </a:r>
            <a:r>
              <a:rPr lang="en-US" sz="13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При R = 0 на конце узел напряжения, при R → ∞ пучность. На самой низкой частоте 2,89 кГц на цепочке укладывается четверть волны (слайд 10).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2"/>
          <p:cNvSpPr txBox="1"/>
          <p:nvPr/>
        </p:nvSpPr>
        <p:spPr>
          <a:xfrm>
            <a:off x="612648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амплитуды вдоль цепочки, R = 0</a:t>
            </a:r>
            <a:endParaRPr lang="en-US" sz="2400" dirty="0"/>
          </a:p>
        </p:txBody>
      </p:sp>
      <p:sp>
        <p:nvSpPr>
          <p:cNvPr id="3" name="Текстовое поле 3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4" name="Рисунок 4" descr="C:\Users\Данил\zxc\labs\2 курс\3.7.3\обработка\model_st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60120"/>
            <a:ext cx="10448336" cy="3693913"/>
          </a:xfrm>
          <a:prstGeom prst="rect">
            <a:avLst/>
          </a:prstGeom>
        </p:spPr>
      </p:pic>
      <p:sp>
        <p:nvSpPr>
          <p:cNvPr id="5" name="Текстовое поле 5"/>
          <p:cNvSpPr txBox="1"/>
          <p:nvPr/>
        </p:nvSpPr>
        <p:spPr>
          <a:xfrm>
            <a:off x="612648" y="4754880"/>
            <a:ext cx="35661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2,89 кГц. Узел на конце, пучность у входа: на цепочке четверть волны. θ по точкам 0,14 ± 0,02, а ω√(LC) = 0,15: дисперсии ещё нет.</a:t>
            </a:r>
            <a:endParaRPr lang="en-US" sz="1200" dirty="0"/>
          </a:p>
        </p:txBody>
      </p:sp>
      <p:sp>
        <p:nvSpPr>
          <p:cNvPr id="6" name="Текстовое поле 6"/>
          <p:cNvSpPr txBox="1"/>
          <p:nvPr/>
        </p:nvSpPr>
        <p:spPr>
          <a:xfrm>
            <a:off x="4315968" y="4754880"/>
            <a:ext cx="35661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12,83 кГц. Максимумы у выходов 4–5 и 8, минимум между 6 и 7. θ по точкам 0,72 ± 0,01, по сдвигу фаз (слайд 9) около 0,78, ω√(LC) = 0,68.</a:t>
            </a:r>
            <a:endParaRPr lang="en-US" sz="1200" dirty="0"/>
          </a:p>
        </p:txBody>
      </p:sp>
      <p:sp>
        <p:nvSpPr>
          <p:cNvPr id="7" name="Текстовое поле 7"/>
          <p:cNvSpPr txBox="1"/>
          <p:nvPr/>
        </p:nvSpPr>
        <p:spPr>
          <a:xfrm>
            <a:off x="8019288" y="4754880"/>
            <a:ext cx="35661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27,89 кГц. Размах чередуется через выход. θ по точкам 1,85 ± 0,03, по сдвигу фаз около 1,86, а ω√(LC) = 1,47: оба измерения показывают дисперсию.</a:t>
            </a:r>
            <a:endParaRPr lang="en-US" sz="1200" dirty="0"/>
          </a:p>
        </p:txBody>
      </p:sp>
      <p:sp>
        <p:nvSpPr>
          <p:cNvPr id="8" name="Прямоугольник 8"/>
          <p:cNvSpPr/>
          <p:nvPr/>
        </p:nvSpPr>
        <p:spPr>
          <a:xfrm>
            <a:off x="612648" y="5577840"/>
            <a:ext cx="10972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9" name="Текстовое поле 9"/>
          <p:cNvSpPr txBox="1"/>
          <p:nvPr/>
        </p:nvSpPr>
        <p:spPr>
          <a:xfrm>
            <a:off x="722376" y="5632704"/>
            <a:ext cx="1075334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мерили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 = 0, размах 2A на выходах снимали курсором Δy (отн. ед.). Кривая 2A = A·|sin θ(11 − n)|: узел на закороченном конце (n = 11), по точкам находили θ и A. Из θ и π − θ, которые дают одинаковые точки, брали то, что согласуется со слайдом 9.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2"/>
          <p:cNvSpPr txBox="1"/>
          <p:nvPr/>
        </p:nvSpPr>
        <p:spPr>
          <a:xfrm>
            <a:off x="612648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400" dirty="0"/>
          </a:p>
        </p:txBody>
      </p:sp>
      <p:sp>
        <p:nvSpPr>
          <p:cNvPr id="3" name="Текстовое поле 3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Текстовое поле 4"/>
          <p:cNvSpPr txBox="1"/>
          <p:nvPr/>
        </p:nvSpPr>
        <p:spPr>
          <a:xfrm>
            <a:off x="612648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700" dirty="0"/>
          </a:p>
        </p:txBody>
      </p:sp>
      <p:sp>
        <p:nvSpPr>
          <p:cNvPr id="5" name="Текстовое поле 5"/>
          <p:cNvSpPr txBox="1"/>
          <p:nvPr/>
        </p:nvSpPr>
        <p:spPr>
          <a:xfrm>
            <a:off x="1051560" y="1097280"/>
            <a:ext cx="10515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кабеле РК 50-4-11 дисперсии нет в диапазоне 1–40 МГц: резонансы равноотстоящие, ФЧХ и k</a:t>
            </a:r>
            <a:r>
              <a:rPr lang="en-US" sz="17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α</a:t>
            </a:r>
            <a:r>
              <a:rPr lang="en-US" sz="17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 ω</a:t>
            </a:r>
            <a:r>
              <a:rPr lang="en-US" sz="17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линейны. V</a:t>
            </a:r>
            <a:r>
              <a:rPr lang="en-US" sz="17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(2,010 ± 0,008)·10</a:t>
            </a:r>
            <a:r>
              <a:rPr lang="en-US" sz="17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м/с совпадает с V</a:t>
            </a:r>
            <a:r>
              <a:rPr lang="en-US" sz="17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(2,02 ± 0,03)·10</a:t>
            </a:r>
            <a:r>
              <a:rPr lang="en-US" sz="17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м/с, сигнал проходит 50,5 м за 251 нс.</a:t>
            </a:r>
            <a:endParaRPr lang="en-US" sz="1700" dirty="0"/>
          </a:p>
        </p:txBody>
      </p:sp>
      <p:sp>
        <p:nvSpPr>
          <p:cNvPr id="6" name="Текстовое поле 6"/>
          <p:cNvSpPr txBox="1"/>
          <p:nvPr/>
        </p:nvSpPr>
        <p:spPr>
          <a:xfrm>
            <a:off x="612648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700" dirty="0"/>
          </a:p>
        </p:txBody>
      </p:sp>
      <p:sp>
        <p:nvSpPr>
          <p:cNvPr id="7" name="Текстовое поле 7"/>
          <p:cNvSpPr txBox="1"/>
          <p:nvPr/>
        </p:nvSpPr>
        <p:spPr>
          <a:xfrm>
            <a:off x="1051560" y="2176272"/>
            <a:ext cx="10515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7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249 нГн/м, C</a:t>
            </a:r>
            <a:r>
              <a:rPr lang="en-US" sz="17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99,5 пФ/м, на 3–4 % отличаются от расчёта по размерам кабеля. ε = 2,17, μ = 1,03, диэлектрик полиэтилен (ε = 2,25).</a:t>
            </a:r>
            <a:endParaRPr lang="en-US" sz="1700" dirty="0"/>
          </a:p>
        </p:txBody>
      </p:sp>
      <p:sp>
        <p:nvSpPr>
          <p:cNvPr id="8" name="Текстовое поле 8"/>
          <p:cNvSpPr txBox="1"/>
          <p:nvPr/>
        </p:nvSpPr>
        <p:spPr>
          <a:xfrm>
            <a:off x="612648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700" dirty="0"/>
          </a:p>
        </p:txBody>
      </p:sp>
      <p:sp>
        <p:nvSpPr>
          <p:cNvPr id="9" name="Текстовое поле 9"/>
          <p:cNvSpPr txBox="1"/>
          <p:nvPr/>
        </p:nvSpPr>
        <p:spPr>
          <a:xfrm>
            <a:off x="1051560" y="3255264"/>
            <a:ext cx="10515600" cy="886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Затухание 1,9–6,3 дБ/100 м растёт как √ω (скин-эффект). Удельная проводимость жилы по формулам описания σ</a:t>
            </a:r>
            <a:r>
              <a:rPr lang="en-US" sz="17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(5,6 ± 1,1)·10</a:t>
            </a:r>
            <a:r>
              <a:rPr lang="en-US" sz="17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σ</a:t>
            </a:r>
            <a:r>
              <a:rPr lang="en-US" sz="17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(4,9 ± 0,3)·10</a:t>
            </a:r>
            <a:r>
              <a:rPr lang="en-US" sz="17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См/м, у меди 5,9·10</a:t>
            </a:r>
            <a:r>
              <a:rPr lang="en-US" sz="17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Текстовое поле 10"/>
          <p:cNvSpPr txBox="1"/>
          <p:nvPr/>
        </p:nvSpPr>
        <p:spPr>
          <a:xfrm>
            <a:off x="612648" y="4599432"/>
            <a:ext cx="411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700" dirty="0"/>
          </a:p>
        </p:txBody>
      </p:sp>
      <p:sp>
        <p:nvSpPr>
          <p:cNvPr id="11" name="Текстовое поле 11"/>
          <p:cNvSpPr txBox="1"/>
          <p:nvPr/>
        </p:nvSpPr>
        <p:spPr>
          <a:xfrm>
            <a:off x="1051560" y="4599432"/>
            <a:ext cx="10533888" cy="13238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цепочке LC есть дисперсия: выше 25 кГц сдвиг фазы на звено растёт быстрее, чем ω√(LC), и у ν</a:t>
            </a:r>
            <a:r>
              <a:rPr lang="en-US" sz="17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37,9 кГц доходит до π. На 27,89 кГц θ по распределению амплитуды (1,85) совпало с измеренным по сдвигу фаз (1,86). Подобранная нагрузка 178,2 Ом совпала с √(L/C) = 178,6 Ом.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2182</Words>
  <Application>Microsoft Office PowerPoint</Application>
  <PresentationFormat>Широкоэкранный</PresentationFormat>
  <Paragraphs>311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Cambria Math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3.7.3 Длинные линии</dc:title>
  <dc:subject/>
  <dc:creator>Зеличенко Д. Д.</dc:creator>
  <cp:lastModifiedBy>Kredos_ Gandalf</cp:lastModifiedBy>
  <cp:revision>5</cp:revision>
  <dcterms:created xsi:type="dcterms:W3CDTF">2026-10-14T20:08:54Z</dcterms:created>
  <dcterms:modified xsi:type="dcterms:W3CDTF">2026-10-15T08:05:49Z</dcterms:modified>
</cp:coreProperties>
</file>